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a7eeba260847cd" /><Relationship Type="http://schemas.openxmlformats.org/officeDocument/2006/relationships/extended-properties" Target="/docProps/app.xml" Id="R4a0ec87888414340" /><Relationship Type="http://schemas.openxmlformats.org/officeDocument/2006/relationships/officeDocument" Target="/ppt/presentation.xml" Id="Rb7924511843a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bb9072eec4d47"/>
  </p:sldMasterIdLst>
  <p:notesMasterIdLst>
    <p:notesMasterId xmlns:r="http://schemas.openxmlformats.org/officeDocument/2006/relationships" r:id="Re58e197872b34966"/>
  </p:notesMasterIdLst>
  <p:sldIdLst>
    <p:sldId xmlns:r="http://schemas.openxmlformats.org/officeDocument/2006/relationships" id="256" r:id="Rcce36e76527f4448"/>
    <p:sldId xmlns:r="http://schemas.openxmlformats.org/officeDocument/2006/relationships" id="257" r:id="Rc772c02538cd44c4"/>
    <p:sldId xmlns:r="http://schemas.openxmlformats.org/officeDocument/2006/relationships" id="258" r:id="R2dcb2d67d7254733"/>
    <p:sldId xmlns:r="http://schemas.openxmlformats.org/officeDocument/2006/relationships" id="259" r:id="R6b6c762ec63a44cf"/>
    <p:sldId xmlns:r="http://schemas.openxmlformats.org/officeDocument/2006/relationships" id="260" r:id="R81deeee1d98a42df"/>
    <p:sldId xmlns:r="http://schemas.openxmlformats.org/officeDocument/2006/relationships" id="261" r:id="R351cff1f5064428b"/>
    <p:sldId xmlns:r="http://schemas.openxmlformats.org/officeDocument/2006/relationships" id="262" r:id="R5dbf54319c214bd4"/>
    <p:sldId xmlns:r="http://schemas.openxmlformats.org/officeDocument/2006/relationships" id="263" r:id="Rcbb53814f6fe4132"/>
    <p:sldId xmlns:r="http://schemas.openxmlformats.org/officeDocument/2006/relationships" id="264" r:id="R97d1aeb7862946fa"/>
    <p:sldId xmlns:r="http://schemas.openxmlformats.org/officeDocument/2006/relationships" id="265" r:id="Rba3cbe273b5f4107"/>
    <p:sldId xmlns:r="http://schemas.openxmlformats.org/officeDocument/2006/relationships" id="266" r:id="Red4c373f1e404a2f"/>
    <p:sldId xmlns:r="http://schemas.openxmlformats.org/officeDocument/2006/relationships" id="267" r:id="R2225aa874a914494"/>
    <p:sldId xmlns:r="http://schemas.openxmlformats.org/officeDocument/2006/relationships" id="268" r:id="R53d3eb15aa9640db"/>
    <p:sldId xmlns:r="http://schemas.openxmlformats.org/officeDocument/2006/relationships" id="269" r:id="R0d650bdc3f9145e0"/>
    <p:sldId xmlns:r="http://schemas.openxmlformats.org/officeDocument/2006/relationships" id="270" r:id="R7eb4ac9a195041c3"/>
    <p:sldId xmlns:r="http://schemas.openxmlformats.org/officeDocument/2006/relationships" id="271" r:id="Rcc39a4ac4d9a4528"/>
    <p:sldId xmlns:r="http://schemas.openxmlformats.org/officeDocument/2006/relationships" id="272" r:id="R4569bb975e7145a7"/>
    <p:sldId xmlns:r="http://schemas.openxmlformats.org/officeDocument/2006/relationships" id="273" r:id="R28760691fc3e424f"/>
    <p:sldId xmlns:r="http://schemas.openxmlformats.org/officeDocument/2006/relationships" id="274" r:id="R85d7a919fc354b71"/>
    <p:sldId xmlns:r="http://schemas.openxmlformats.org/officeDocument/2006/relationships" id="275" r:id="R1310d66be1fb47fd"/>
    <p:sldId xmlns:r="http://schemas.openxmlformats.org/officeDocument/2006/relationships" id="276" r:id="R81324213b93841e7"/>
    <p:sldId xmlns:r="http://schemas.openxmlformats.org/officeDocument/2006/relationships" id="277" r:id="Red6a4768c59a4052"/>
    <p:sldId xmlns:r="http://schemas.openxmlformats.org/officeDocument/2006/relationships" id="278" r:id="R15b7f1eeb22949dd"/>
    <p:sldId xmlns:r="http://schemas.openxmlformats.org/officeDocument/2006/relationships" id="279" r:id="R98bcd60253ec4501"/>
    <p:sldId xmlns:r="http://schemas.openxmlformats.org/officeDocument/2006/relationships" id="280" r:id="R5f50a866441f4914"/>
    <p:sldId xmlns:r="http://schemas.openxmlformats.org/officeDocument/2006/relationships" id="281" r:id="Rc35bdec768124598"/>
    <p:sldId xmlns:r="http://schemas.openxmlformats.org/officeDocument/2006/relationships" id="282" r:id="R5d95708340bf4f97"/>
    <p:sldId xmlns:r="http://schemas.openxmlformats.org/officeDocument/2006/relationships" id="283" r:id="R08db3d4a8dbb47ba"/>
    <p:sldId xmlns:r="http://schemas.openxmlformats.org/officeDocument/2006/relationships" id="284" r:id="Rb9d09d65a7184c5e"/>
    <p:sldId xmlns:r="http://schemas.openxmlformats.org/officeDocument/2006/relationships" id="285" r:id="R377c75e71dda43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635eeaf7b4cc8" /><Relationship Type="http://schemas.openxmlformats.org/officeDocument/2006/relationships/slideMaster" Target="/ppt/slideMasters/slideMaster1.xml" Id="Rfcabb9072eec4d47" /><Relationship Type="http://schemas.openxmlformats.org/officeDocument/2006/relationships/notesMaster" Target="/ppt/notesMasters/notesMaster1.xml" Id="Re58e197872b34966" /><Relationship Type="http://schemas.openxmlformats.org/officeDocument/2006/relationships/presProps" Target="/ppt/presProps.xml" Id="R3e9e18851ea14535" /><Relationship Type="http://schemas.openxmlformats.org/officeDocument/2006/relationships/viewProps" Target="/ppt/viewProps.xml" Id="Rdb6fde66a7c84334" /><Relationship Type="http://schemas.openxmlformats.org/officeDocument/2006/relationships/tableStyles" Target="/ppt/tableStyles.xml" Id="R3cd43795640347e3" /><Relationship Type="http://schemas.openxmlformats.org/officeDocument/2006/relationships/slide" Target="/ppt/slides/slide1.xml" Id="Rcce36e76527f4448" /><Relationship Type="http://schemas.openxmlformats.org/officeDocument/2006/relationships/slide" Target="/ppt/slides/slide2.xml" Id="Rc772c02538cd44c4" /><Relationship Type="http://schemas.openxmlformats.org/officeDocument/2006/relationships/slide" Target="/ppt/slides/slide3.xml" Id="R2dcb2d67d7254733" /><Relationship Type="http://schemas.openxmlformats.org/officeDocument/2006/relationships/slide" Target="/ppt/slides/slide4.xml" Id="R6b6c762ec63a44cf" /><Relationship Type="http://schemas.openxmlformats.org/officeDocument/2006/relationships/slide" Target="/ppt/slides/slide5.xml" Id="R81deeee1d98a42df" /><Relationship Type="http://schemas.openxmlformats.org/officeDocument/2006/relationships/slide" Target="/ppt/slides/slide6.xml" Id="R351cff1f5064428b" /><Relationship Type="http://schemas.openxmlformats.org/officeDocument/2006/relationships/slide" Target="/ppt/slides/slide7.xml" Id="R5dbf54319c214bd4" /><Relationship Type="http://schemas.openxmlformats.org/officeDocument/2006/relationships/slide" Target="/ppt/slides/slide8.xml" Id="Rcbb53814f6fe4132" /><Relationship Type="http://schemas.openxmlformats.org/officeDocument/2006/relationships/slide" Target="/ppt/slides/slide9.xml" Id="R97d1aeb7862946fa" /><Relationship Type="http://schemas.openxmlformats.org/officeDocument/2006/relationships/slide" Target="/ppt/slides/slide10.xml" Id="Rba3cbe273b5f4107" /><Relationship Type="http://schemas.openxmlformats.org/officeDocument/2006/relationships/slide" Target="/ppt/slides/slide11.xml" Id="Red4c373f1e404a2f" /><Relationship Type="http://schemas.openxmlformats.org/officeDocument/2006/relationships/slide" Target="/ppt/slides/slide12.xml" Id="R2225aa874a914494" /><Relationship Type="http://schemas.openxmlformats.org/officeDocument/2006/relationships/slide" Target="/ppt/slides/slide13.xml" Id="R53d3eb15aa9640db" /><Relationship Type="http://schemas.openxmlformats.org/officeDocument/2006/relationships/slide" Target="/ppt/slides/slide14.xml" Id="R0d650bdc3f9145e0" /><Relationship Type="http://schemas.openxmlformats.org/officeDocument/2006/relationships/slide" Target="/ppt/slides/slide15.xml" Id="R7eb4ac9a195041c3" /><Relationship Type="http://schemas.openxmlformats.org/officeDocument/2006/relationships/slide" Target="/ppt/slides/slide16.xml" Id="Rcc39a4ac4d9a4528" /><Relationship Type="http://schemas.openxmlformats.org/officeDocument/2006/relationships/slide" Target="/ppt/slides/slide17.xml" Id="R4569bb975e7145a7" /><Relationship Type="http://schemas.openxmlformats.org/officeDocument/2006/relationships/slide" Target="/ppt/slides/slide18.xml" Id="R28760691fc3e424f" /><Relationship Type="http://schemas.openxmlformats.org/officeDocument/2006/relationships/slide" Target="/ppt/slides/slide19.xml" Id="R85d7a919fc354b71" /><Relationship Type="http://schemas.openxmlformats.org/officeDocument/2006/relationships/slide" Target="/ppt/slides/slide20.xml" Id="R1310d66be1fb47fd" /><Relationship Type="http://schemas.openxmlformats.org/officeDocument/2006/relationships/slide" Target="/ppt/slides/slide21.xml" Id="R81324213b93841e7" /><Relationship Type="http://schemas.openxmlformats.org/officeDocument/2006/relationships/slide" Target="/ppt/slides/slide22.xml" Id="Red6a4768c59a4052" /><Relationship Type="http://schemas.openxmlformats.org/officeDocument/2006/relationships/slide" Target="/ppt/slides/slide23.xml" Id="R15b7f1eeb22949dd" /><Relationship Type="http://schemas.openxmlformats.org/officeDocument/2006/relationships/slide" Target="/ppt/slides/slide24.xml" Id="R98bcd60253ec4501" /><Relationship Type="http://schemas.openxmlformats.org/officeDocument/2006/relationships/slide" Target="/ppt/slides/slide25.xml" Id="R5f50a866441f4914" /><Relationship Type="http://schemas.openxmlformats.org/officeDocument/2006/relationships/slide" Target="/ppt/slides/slide26.xml" Id="Rc35bdec768124598" /><Relationship Type="http://schemas.openxmlformats.org/officeDocument/2006/relationships/slide" Target="/ppt/slides/slide27.xml" Id="R5d95708340bf4f97" /><Relationship Type="http://schemas.openxmlformats.org/officeDocument/2006/relationships/slide" Target="/ppt/slides/slide28.xml" Id="R08db3d4a8dbb47ba" /><Relationship Type="http://schemas.openxmlformats.org/officeDocument/2006/relationships/slide" Target="/ppt/slides/slide29.xml" Id="Rb9d09d65a7184c5e" /><Relationship Type="http://schemas.openxmlformats.org/officeDocument/2006/relationships/slide" Target="/ppt/slides/slide30.xml" Id="R377c75e71dda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400e43eb0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ed6efb3f84a83" /><Relationship Type="http://schemas.openxmlformats.org/officeDocument/2006/relationships/notesMaster" Target="/ppt/notesMasters/notesMaster1.xml" Id="Ra6758ddf8bb8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de5033b0fd41f7" /><Relationship Type="http://schemas.openxmlformats.org/officeDocument/2006/relationships/notesMaster" Target="/ppt/notesMasters/notesMaster1.xml" Id="R785ddf4dc9404d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414474dfa346e7" /><Relationship Type="http://schemas.openxmlformats.org/officeDocument/2006/relationships/notesMaster" Target="/ppt/notesMasters/notesMaster1.xml" Id="Re25ee4223e1e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56499badd4685" /><Relationship Type="http://schemas.openxmlformats.org/officeDocument/2006/relationships/notesMaster" Target="/ppt/notesMasters/notesMaster1.xml" Id="R86cd998bcba24d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28e29b27cd4303" /><Relationship Type="http://schemas.openxmlformats.org/officeDocument/2006/relationships/notesMaster" Target="/ppt/notesMasters/notesMaster1.xml" Id="R9ec6081b26f541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6102c690449b7" /><Relationship Type="http://schemas.openxmlformats.org/officeDocument/2006/relationships/notesMaster" Target="/ppt/notesMasters/notesMaster1.xml" Id="R488de835d07940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1418e305334dba" /><Relationship Type="http://schemas.openxmlformats.org/officeDocument/2006/relationships/notesMaster" Target="/ppt/notesMasters/notesMaster1.xml" Id="R5fb95b3a1cff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9ea93e2b3d4796" /><Relationship Type="http://schemas.openxmlformats.org/officeDocument/2006/relationships/notesMaster" Target="/ppt/notesMasters/notesMaster1.xml" Id="R9694f9e3aec14a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cf49a609dc4a5b" /><Relationship Type="http://schemas.openxmlformats.org/officeDocument/2006/relationships/notesMaster" Target="/ppt/notesMasters/notesMaster1.xml" Id="Rc9897b78ad8942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2dcb7ac88c4725" /><Relationship Type="http://schemas.openxmlformats.org/officeDocument/2006/relationships/notesMaster" Target="/ppt/notesMasters/notesMaster1.xml" Id="Re34fc69785d149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f743ea58da4979" /><Relationship Type="http://schemas.openxmlformats.org/officeDocument/2006/relationships/notesMaster" Target="/ppt/notesMasters/notesMaster1.xml" Id="Rc1cc278d6cd643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9e0d8dff3146ab" /><Relationship Type="http://schemas.openxmlformats.org/officeDocument/2006/relationships/notesMaster" Target="/ppt/notesMasters/notesMaster1.xml" Id="Ree3fc94ceaf949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c3973823454c3a" /><Relationship Type="http://schemas.openxmlformats.org/officeDocument/2006/relationships/notesMaster" Target="/ppt/notesMasters/notesMaster1.xml" Id="Ra2c7e268dfb24b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c935013ba741f9" /><Relationship Type="http://schemas.openxmlformats.org/officeDocument/2006/relationships/notesMaster" Target="/ppt/notesMasters/notesMaster1.xml" Id="Rbd684d1aa9304a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d5191bb215409b" /><Relationship Type="http://schemas.openxmlformats.org/officeDocument/2006/relationships/notesMaster" Target="/ppt/notesMasters/notesMaster1.xml" Id="R0ee773b886e044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20c0fda1f74bc8" /><Relationship Type="http://schemas.openxmlformats.org/officeDocument/2006/relationships/notesMaster" Target="/ppt/notesMasters/notesMaster1.xml" Id="R1f29f3eb86b840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854fa68f6740ec" /><Relationship Type="http://schemas.openxmlformats.org/officeDocument/2006/relationships/notesMaster" Target="/ppt/notesMasters/notesMaster1.xml" Id="R5464e32293ab4c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0875ca0d93414b" /><Relationship Type="http://schemas.openxmlformats.org/officeDocument/2006/relationships/notesMaster" Target="/ppt/notesMasters/notesMaster1.xml" Id="R3f0f62dd359449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98f249a8d24870" /><Relationship Type="http://schemas.openxmlformats.org/officeDocument/2006/relationships/notesMaster" Target="/ppt/notesMasters/notesMaster1.xml" Id="R821e0e1ccfee43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11829226964137" /><Relationship Type="http://schemas.openxmlformats.org/officeDocument/2006/relationships/notesMaster" Target="/ppt/notesMasters/notesMaster1.xml" Id="R10b99ce98ea344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5c9724c51e42d0" /><Relationship Type="http://schemas.openxmlformats.org/officeDocument/2006/relationships/notesMaster" Target="/ppt/notesMasters/notesMaster1.xml" Id="Rd6c832aa2e5048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9e44a5ca584545" /><Relationship Type="http://schemas.openxmlformats.org/officeDocument/2006/relationships/notesMaster" Target="/ppt/notesMasters/notesMaster1.xml" Id="R2897267c34bf4e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d0a83b64954422" /><Relationship Type="http://schemas.openxmlformats.org/officeDocument/2006/relationships/notesMaster" Target="/ppt/notesMasters/notesMaster1.xml" Id="R81051a6e52d040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1eb30cb8e04bae" /><Relationship Type="http://schemas.openxmlformats.org/officeDocument/2006/relationships/notesMaster" Target="/ppt/notesMasters/notesMaster1.xml" Id="R3d894489e97e44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b82903ce134102" /><Relationship Type="http://schemas.openxmlformats.org/officeDocument/2006/relationships/notesMaster" Target="/ppt/notesMasters/notesMaster1.xml" Id="Rc6269933c8d046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6cb458fe42450e" /><Relationship Type="http://schemas.openxmlformats.org/officeDocument/2006/relationships/notesMaster" Target="/ppt/notesMasters/notesMaster1.xml" Id="Rb942fc78c24640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2192fa8afe4865" /><Relationship Type="http://schemas.openxmlformats.org/officeDocument/2006/relationships/notesMaster" Target="/ppt/notesMasters/notesMaster1.xml" Id="R88670e0b6e4743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558a92e445d44e0" /><Relationship Type="http://schemas.openxmlformats.org/officeDocument/2006/relationships/notesMaster" Target="/ppt/notesMasters/notesMaster1.xml" Id="R3ab8f821b12144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94d410e2e74221" /><Relationship Type="http://schemas.openxmlformats.org/officeDocument/2006/relationships/notesMaster" Target="/ppt/notesMasters/notesMaster1.xml" Id="Rdd4966eb796347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c1902ee0b24d88" /><Relationship Type="http://schemas.openxmlformats.org/officeDocument/2006/relationships/notesMaster" Target="/ppt/notesMasters/notesMaster1.xml" Id="R9bcf5b06f33b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本頁說明：本提案根據目前 HTML Demo 與功能爆炸圖整理。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  <a:p xmlns:a="http://schemas.openxmlformats.org/drawingml/2006/main">
            <a:r>
              <a:t>
隊伍：Bug不過夜
提案局處：教育局
隊伍圖：OpenAI ImageGen 生成，參考使用者提供的 images.jpg 視覺風格。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本頁說明：本提案根據目前 HTML Demo 與功能爆炸圖整理。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本頁說明：先關注誰：哪些園所值得</a:t>
            </a:r>
          </a:p>
          <a:p xmlns:a="http://schemas.openxmlformats.org/drawingml/2006/main">
            <a:r>
              <a:t>優先投入查核人力？；為什麼要查：風險來自哪份資料？</a:t>
            </a:r>
          </a:p>
          <a:p xmlns:a="http://schemas.openxmlformats.org/drawingml/2006/main">
            <a:r>
              <a:t>判斷依據是否清楚？；接下來怎麼做：由誰追查、何時完成，</a:t>
            </a:r>
          </a:p>
          <a:p xmlns:a="http://schemas.openxmlformats.org/drawingml/2006/main">
            <a:r>
              <a:t>結果如何留下紀錄？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本頁說明：需求指出基本、評鑑、裁罰、收費及財務等資料分散，承辦人需人工整理。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本頁說明：整理資料：選擇類別</a:t>
            </a:r>
          </a:p>
          <a:p xmlns:a="http://schemas.openxmlformats.org/drawingml/2006/main">
            <a:r>
              <a:t>確認欄位；辨識風險：依規則排序</a:t>
            </a:r>
          </a:p>
          <a:p xmlns:a="http://schemas.openxmlformats.org/drawingml/2006/main">
            <a:r>
              <a:t>保留資料來源；人工覆核：確認依據</a:t>
            </a:r>
          </a:p>
          <a:p xmlns:a="http://schemas.openxmlformats.org/drawingml/2006/main">
            <a:r>
              <a:t>記錄判斷；追蹤調查：指定負責人</a:t>
            </a:r>
          </a:p>
          <a:p xmlns:a="http://schemas.openxmlformats.org/drawingml/2006/main">
            <a:r>
              <a:t>更新處理結果；簽名交辦：預覽文件</a:t>
            </a:r>
          </a:p>
          <a:p xmlns:a="http://schemas.openxmlformats.org/drawingml/2006/main">
            <a:r>
              <a:t>交付對應局處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本頁說明：目前 Demo 的側欄包含風險總覽、稽核管理、資料與規則設定。園所詳情與 AI 建議位於總覽下。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本頁說明：原圖共八個模組，依查核流程分組介紹。原圖 P0/P1 標記保留在附錄。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本頁說明：地圖與清單</a:t>
            </a:r>
          </a:p>
          <a:p xmlns:a="http://schemas.openxmlformats.org/drawingml/2006/main">
            <a:r>
              <a:t>一起看。依行政區、風險等級</a:t>
            </a:r>
          </a:p>
          <a:p xmlns:a="http://schemas.openxmlformats.org/drawingml/2006/main">
            <a:r>
              <a:t>或園所名稱篩選。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高風險與資料不足</a:t>
            </a:r>
          </a:p>
          <a:p xmlns:a="http://schemas.openxmlformats.org/drawingml/2006/main">
            <a:r>
              <a:t>分開呈現。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本頁說明：先看摘要</a:t>
            </a:r>
          </a:p>
          <a:p xmlns:a="http://schemas.openxmlformats.org/drawingml/2006/main">
            <a:r>
              <a:t>再進入詳情。地圖標記顯示分數。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點一下就能看到</a:t>
            </a:r>
          </a:p>
          <a:p xmlns:a="http://schemas.openxmlformats.org/drawingml/2006/main">
            <a:r>
              <a:t>主要原因與資料完整度。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本頁說明：總分 82 分</a:t>
            </a:r>
          </a:p>
          <a:p xmlns:a="http://schemas.openxmlformats.org/drawingml/2006/main">
            <a:r>
              <a:t>可以拆開看。法遵 36／40</a:t>
            </a:r>
          </a:p>
          <a:p xmlns:a="http://schemas.openxmlformats.org/drawingml/2006/main">
            <a:r>
              <a:t>財務 27／35</a:t>
            </a:r>
          </a:p>
          <a:p xmlns:a="http://schemas.openxmlformats.org/drawingml/2006/main">
            <a:r>
              <a:t>資料一致性 12／15</a:t>
            </a:r>
          </a:p>
          <a:p xmlns:a="http://schemas.openxmlformats.org/drawingml/2006/main">
            <a:r>
              <a:t>輿情 7／10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本頁說明：承辦人看得懂</a:t>
            </a:r>
          </a:p>
          <a:p xmlns:a="http://schemas.openxmlformats.org/drawingml/2006/main">
            <a:r>
              <a:t>也查得到來源。呈現資料來源、觀察值</a:t>
            </a:r>
          </a:p>
          <a:p xmlns:a="http://schemas.openxmlformats.org/drawingml/2006/main">
            <a:r>
              <a:t>以及判斷規則。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用白話說明影響，</a:t>
            </a:r>
          </a:p>
          <a:p xmlns:a="http://schemas.openxmlformats.org/drawingml/2006/main">
            <a:r>
              <a:t>保留人工確認空間。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本頁說明：目前 Demo 以模擬數值呈現同類比較與年度變化。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本頁說明：月費5000元、100人、12個月推估年收入600萬元，財務收入920萬元，差異約53%。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本頁說明：34% 完整度</a:t>
            </a:r>
          </a:p>
          <a:p xmlns:a="http://schemas.openxmlformats.org/drawingml/2006/main">
            <a:r>
              <a:t>無法完整評估。缺少資料時，</a:t>
            </a:r>
          </a:p>
          <a:p xmlns:a="http://schemas.openxmlformats.org/drawingml/2006/main">
            <a:r>
              <a:t>不把園所標成安全。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先補財務與收費資料，</a:t>
            </a:r>
          </a:p>
          <a:p xmlns:a="http://schemas.openxmlformats.org/drawingml/2006/main">
            <a:r>
              <a:t>再進行後續判斷。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本頁說明：把風險原因</a:t>
            </a:r>
          </a:p>
          <a:p xmlns:a="http://schemas.openxmlformats.org/drawingml/2006/main">
            <a:r>
              <a:t>轉成工作清單。例如核對薪資明細、</a:t>
            </a:r>
          </a:p>
          <a:p xmlns:a="http://schemas.openxmlformats.org/drawingml/2006/main">
            <a:r>
              <a:t>確認收費收入來源。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承辦人逐項確認，</a:t>
            </a:r>
          </a:p>
          <a:p xmlns:a="http://schemas.openxmlformats.org/drawingml/2006/main">
            <a:r>
              <a:t>保留最終判斷。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本頁說明：確認後</a:t>
            </a:r>
          </a:p>
          <a:p xmlns:a="http://schemas.openxmlformats.org/drawingml/2006/main">
            <a:r>
              <a:t>記錄下一步。設定處理狀態與日期，</a:t>
            </a:r>
          </a:p>
          <a:p xmlns:a="http://schemas.openxmlformats.org/drawingml/2006/main">
            <a:r>
              <a:t>填寫備註和後續事項。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儲存後，案件接到</a:t>
            </a:r>
          </a:p>
          <a:p xmlns:a="http://schemas.openxmlformats.org/drawingml/2006/main">
            <a:r>
              <a:t>稽核管理。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本頁說明：每件案件都有</a:t>
            </a:r>
          </a:p>
          <a:p xmlns:a="http://schemas.openxmlformats.org/drawingml/2006/main">
            <a:r>
              <a:t>待辦與負責人。查看下一步行動、</a:t>
            </a:r>
          </a:p>
          <a:p xmlns:a="http://schemas.openxmlformats.org/drawingml/2006/main">
            <a:r>
              <a:t>對應局處與完成期限。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集中追蹤待處理、</a:t>
            </a:r>
          </a:p>
          <a:p xmlns:a="http://schemas.openxmlformats.org/drawingml/2006/main">
            <a:r>
              <a:t>調查中與待補件案件。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本頁說明：完成一項</a:t>
            </a:r>
          </a:p>
          <a:p xmlns:a="http://schemas.openxmlformats.org/drawingml/2006/main">
            <a:r>
              <a:t>留下處理結果。可以新增行動、</a:t>
            </a:r>
          </a:p>
          <a:p xmlns:a="http://schemas.openxmlformats.org/drawingml/2006/main">
            <a:r>
              <a:t>指定負責人與期限。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每次更新保留紀錄，</a:t>
            </a:r>
          </a:p>
          <a:p xmlns:a="http://schemas.openxmlformats.org/drawingml/2006/main">
            <a:r>
              <a:t>讓案件交接有前情可查。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本頁說明：整理成局處</a:t>
            </a:r>
          </a:p>
          <a:p xmlns:a="http://schemas.openxmlformats.org/drawingml/2006/main">
            <a:r>
              <a:t>能接續處理的文件。帶入覆核摘要、</a:t>
            </a:r>
          </a:p>
          <a:p xmlns:a="http://schemas.openxmlformats.org/drawingml/2006/main">
            <a:r>
              <a:t>後續行動與承辦人簽名。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匯出前確認交付局處、</a:t>
            </a:r>
          </a:p>
          <a:p xmlns:a="http://schemas.openxmlformats.org/drawingml/2006/main">
            <a:r>
              <a:t>負責人與處理期限。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本頁說明：不同局處檔案</a:t>
            </a:r>
          </a:p>
          <a:p xmlns:a="http://schemas.openxmlformats.org/drawingml/2006/main">
            <a:r>
              <a:t>使用同一個入口。先勾選基本資料、</a:t>
            </a:r>
          </a:p>
          <a:p xmlns:a="http://schemas.openxmlformats.org/drawingml/2006/main">
            <a:r>
              <a:t>收費、財務或裁罰等類別。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再上傳檔案，</a:t>
            </a:r>
          </a:p>
          <a:p xmlns:a="http://schemas.openxmlformats.org/drawingml/2006/main">
            <a:r>
              <a:t>由 AI 協助整理。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本頁說明：名稱不同</a:t>
            </a:r>
          </a:p>
          <a:p xmlns:a="http://schemas.openxmlformats.org/drawingml/2006/main">
            <a:r>
              <a:t>仍可整理成一致欄位。例如「機構名稱」</a:t>
            </a:r>
          </a:p>
          <a:p xmlns:a="http://schemas.openxmlformats.org/drawingml/2006/main">
            <a:r>
              <a:t>對應到「園所名稱」。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可調整對應、取消勾選，</a:t>
            </a:r>
          </a:p>
          <a:p xmlns:a="http://schemas.openxmlformats.org/drawingml/2006/main">
            <a:r>
              <a:t>只匯入需要的欄位。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本頁說明：看清楚</a:t>
            </a:r>
          </a:p>
          <a:p xmlns:a="http://schemas.openxmlformats.org/drawingml/2006/main">
            <a:r>
              <a:t>新增還是更新。預覽整理後的內容，</a:t>
            </a:r>
          </a:p>
          <a:p xmlns:a="http://schemas.openxmlformats.org/drawingml/2006/main">
            <a:r>
              <a:t>修正或取消個別資料列。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確認後保留匯入紀錄，</a:t>
            </a:r>
          </a:p>
          <a:p xmlns:a="http://schemas.openxmlformats.org/drawingml/2006/main">
            <a:r>
              <a:t>便於追溯檔案來源。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本頁說明：政策與資料改變</a:t>
            </a:r>
          </a:p>
          <a:p xmlns:a="http://schemas.openxmlformats.org/drawingml/2006/main">
            <a:r>
              <a:t>仍可維護判斷方式。以白話編輯條件，</a:t>
            </a:r>
          </a:p>
          <a:p xmlns:a="http://schemas.openxmlformats.org/drawingml/2006/main">
            <a:r>
              <a:t>設定影響程度與啟停狀態。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保留修改版本，</a:t>
            </a:r>
          </a:p>
          <a:p xmlns:a="http://schemas.openxmlformats.org/drawingml/2006/main">
            <a:r>
              <a:t>知道當時採用什麼規則。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本頁說明：整理事件：辨識相關園所，</a:t>
            </a:r>
          </a:p>
          <a:p xmlns:a="http://schemas.openxmlformats.org/drawingml/2006/main">
            <a:r>
              <a:t>合併重複討論與報導。；標示可信度：保留來源、日期</a:t>
            </a:r>
          </a:p>
          <a:p xmlns:a="http://schemas.openxmlformats.org/drawingml/2006/main">
            <a:r>
              <a:t>與未查證的標示。；提供查核線索：協助安排確認事項，</a:t>
            </a:r>
          </a:p>
          <a:p xmlns:a="http://schemas.openxmlformats.org/drawingml/2006/main">
            <a:r>
              <a:t>由人員回到正式事證查核。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本頁說明：需要說明時</a:t>
            </a:r>
          </a:p>
          <a:p xmlns:a="http://schemas.openxmlformats.org/drawingml/2006/main">
            <a:r>
              <a:t>點一下「！」。在功能旁提供</a:t>
            </a:r>
          </a:p>
          <a:p xmlns:a="http://schemas.openxmlformats.org/drawingml/2006/main">
            <a:r>
              <a:t>用途與操作步驟。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看完關閉提示，</a:t>
            </a:r>
          </a:p>
          <a:p xmlns:a="http://schemas.openxmlformats.org/drawingml/2006/main">
            <a:r>
              <a:t>接著完成原本的工作。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本頁說明：功能 / 目前 Demo / 正式建置需求</a:t>
            </a:r>
          </a:p>
          <a:p xmlns:a="http://schemas.openxmlformats.org/drawingml/2006/main">
            <a:r>
              <a:t>風險與依據 / 模擬分數、來源與原因 / 串接資料、驗證評分規則</a:t>
            </a:r>
          </a:p>
          <a:p xmlns:a="http://schemas.openxmlformats.org/drawingml/2006/main">
            <a:r>
              <a:t>人工覆核與案件 / 可操作表單與待辦 / 帳號權限、共用資料庫</a:t>
            </a:r>
          </a:p>
          <a:p xmlns:a="http://schemas.openxmlformats.org/drawingml/2006/main">
            <a:r>
              <a:t>AI 資料整理 / 固定範例與欄位對應 / 解析檔案、OCR 與 AI 辨識</a:t>
            </a:r>
          </a:p>
          <a:p xmlns:a="http://schemas.openxmlformats.org/drawingml/2006/main">
            <a:r>
              <a:t>簽名與 PDF / 示範簽名、文件預覽 / 簽名管理、實際 PDF 產生</a:t>
            </a:r>
          </a:p>
          <a:p xmlns:a="http://schemas.openxmlformats.org/drawingml/2006/main">
            <a:r>
              <a:t>輿情事件分析 / 構面與概念展示 / 事件分類、去重與查證流程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本頁說明：核心查核：總覽、清單、詳情</a:t>
            </a:r>
          </a:p>
          <a:p xmlns:a="http://schemas.openxmlformats.org/drawingml/2006/main">
            <a:r>
              <a:t>評分依據與查核建議；處理與交辦：覆核、案件、行動</a:t>
            </a:r>
          </a:p>
          <a:p xmlns:a="http://schemas.openxmlformats.org/drawingml/2006/main">
            <a:r>
              <a:t>承辦簽名與 PDF；資料深化：正式資料匯入</a:t>
            </a:r>
          </a:p>
          <a:p xmlns:a="http://schemas.openxmlformats.org/drawingml/2006/main">
            <a:r>
              <a:t>異常偵測與輿情分析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本頁說明：找得到：能否找到需優先關注的園所？</a:t>
            </a:r>
          </a:p>
          <a:p xmlns:a="http://schemas.openxmlformats.org/drawingml/2006/main">
            <a:r>
              <a:t>記錄查找與整理所需時間。；看得懂：能否說出風險原因與來源？</a:t>
            </a:r>
          </a:p>
          <a:p xmlns:a="http://schemas.openxmlformats.org/drawingml/2006/main">
            <a:r>
              <a:t>記錄覆核時遇到的疑問。；接得下去：能否完成後續行動與交辦？</a:t>
            </a:r>
          </a:p>
          <a:p xmlns:a="http://schemas.openxmlformats.org/drawingml/2006/main">
            <a:r>
              <a:t>追蹤未完成事項與回覆情形。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本頁說明：提案目標為協助主管機關安排查核優先順序及後續處理。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本頁說明：完整保留使用者提供的原圖。P0為黑客松必做，P1為時間允許再做。原圖案件管理為P1，目前已提前展示操作流程。</a:t>
            </a:r>
          </a:p>
          <a:p xmlns:a="http://schemas.openxmlformats.org/drawingml/2006/main">
            <a:r>
              <a:t>資料來源：/Users/mobinice/Documents/ChatGPT/黑客松/preview.html；/Users/mobinice/Documents/ChatGPT/黑客松/教保風險平台_MVP功能爆炸圖.png。</a:t>
            </a:r>
          </a:p>
          <a:p xmlns:a="http://schemas.openxmlformats.org/drawingml/2006/main"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bd31a4e3045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44bc8fedd4564" /><Relationship Type="http://schemas.openxmlformats.org/officeDocument/2006/relationships/slideLayout" Target="/ppt/slideLayouts/slideLayout1.xml" Id="R25e0e549713a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0e549713a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4809327424ec3" /><Relationship Type="http://schemas.openxmlformats.org/officeDocument/2006/relationships/image" Target="/ppt/media/image.png" Id="R2f28d255f35f4308" /><Relationship Type="http://schemas.openxmlformats.org/officeDocument/2006/relationships/image" Target="/ppt/media/image2.png" Id="Rc41b6e0ad8814682" /><Relationship Type="http://schemas.openxmlformats.org/officeDocument/2006/relationships/notesSlide" Target="/ppt/notesSlides/notesSlide1.xml" Id="R09b772a96d01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4f76435f24557" /><Relationship Type="http://schemas.openxmlformats.org/officeDocument/2006/relationships/image" Target="/ppt/media/image.png" Id="Rb048b298dc6347df" /><Relationship Type="http://schemas.openxmlformats.org/officeDocument/2006/relationships/notesSlide" Target="/ppt/notesSlides/notesSlide2.xml" Id="Ra850f249df08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e94d9fe5c4319" /><Relationship Type="http://schemas.openxmlformats.org/officeDocument/2006/relationships/notesSlide" Target="/ppt/notesSlides/notesSlide3.xml" Id="R6c7996651b6047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90a2711394f2e" /><Relationship Type="http://schemas.openxmlformats.org/officeDocument/2006/relationships/notesSlide" Target="/ppt/notesSlides/notesSlide4.xml" Id="R48602d9a9021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4f338963f489e" /><Relationship Type="http://schemas.openxmlformats.org/officeDocument/2006/relationships/notesSlide" Target="/ppt/notesSlides/notesSlide5.xml" Id="Rcfa754767df94c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3d2c8216f4605" /><Relationship Type="http://schemas.openxmlformats.org/officeDocument/2006/relationships/image" Target="/ppt/media/image3.png" Id="Re17f199ea84047c0" /><Relationship Type="http://schemas.openxmlformats.org/officeDocument/2006/relationships/notesSlide" Target="/ppt/notesSlides/notesSlide6.xml" Id="Rca28ea36de114a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5550e7b134853" /><Relationship Type="http://schemas.openxmlformats.org/officeDocument/2006/relationships/notesSlide" Target="/ppt/notesSlides/notesSlide7.xml" Id="Rcfcc998eb8e04d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16228cb594570" /><Relationship Type="http://schemas.openxmlformats.org/officeDocument/2006/relationships/image" Target="/ppt/media/image4.png" Id="Rc7e1329700b44524" /><Relationship Type="http://schemas.openxmlformats.org/officeDocument/2006/relationships/notesSlide" Target="/ppt/notesSlides/notesSlide8.xml" Id="R36dd4f7e9b4145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167f454614eb0" /><Relationship Type="http://schemas.openxmlformats.org/officeDocument/2006/relationships/image" Target="/ppt/media/image5.png" Id="R0ef1ce05c13d45b5" /><Relationship Type="http://schemas.openxmlformats.org/officeDocument/2006/relationships/notesSlide" Target="/ppt/notesSlides/notesSlide9.xml" Id="R7724aee92cfe45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781514ed34870" /><Relationship Type="http://schemas.openxmlformats.org/officeDocument/2006/relationships/image" Target="/ppt/media/image6.png" Id="Rd02ee2cc2ed540a0" /><Relationship Type="http://schemas.openxmlformats.org/officeDocument/2006/relationships/notesSlide" Target="/ppt/notesSlides/notesSlide10.xml" Id="R0180f11a9ef046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cc081c4664aad" /><Relationship Type="http://schemas.openxmlformats.org/officeDocument/2006/relationships/image" Target="/ppt/media/image7.png" Id="Re9a3db7e9ab94b5f" /><Relationship Type="http://schemas.openxmlformats.org/officeDocument/2006/relationships/notesSlide" Target="/ppt/notesSlides/notesSlide11.xml" Id="R4ec361c0347d40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5084e46534e67" /><Relationship Type="http://schemas.openxmlformats.org/officeDocument/2006/relationships/notesSlide" Target="/ppt/notesSlides/notesSlide12.xml" Id="Rc234263d609547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97b15120943a1" /><Relationship Type="http://schemas.openxmlformats.org/officeDocument/2006/relationships/notesSlide" Target="/ppt/notesSlides/notesSlide13.xml" Id="R31d83ffe7d924d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61dbfc5c14eb8" /><Relationship Type="http://schemas.openxmlformats.org/officeDocument/2006/relationships/image" Target="/ppt/media/image8.png" Id="R698baa25cd7244c0" /><Relationship Type="http://schemas.openxmlformats.org/officeDocument/2006/relationships/notesSlide" Target="/ppt/notesSlides/notesSlide14.xml" Id="R19bb03a55cb34b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1e65b4fd04a41" /><Relationship Type="http://schemas.openxmlformats.org/officeDocument/2006/relationships/image" Target="/ppt/media/image9.png" Id="R2df4ede21b4d499d" /><Relationship Type="http://schemas.openxmlformats.org/officeDocument/2006/relationships/notesSlide" Target="/ppt/notesSlides/notesSlide15.xml" Id="R4a498994c16a49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13c73b0bd4ccc" /><Relationship Type="http://schemas.openxmlformats.org/officeDocument/2006/relationships/image" Target="/ppt/media/image10.png" Id="R04341a0231554e10" /><Relationship Type="http://schemas.openxmlformats.org/officeDocument/2006/relationships/notesSlide" Target="/ppt/notesSlides/notesSlide16.xml" Id="Rdedb4a7e3e1d48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efa57c96342ce" /><Relationship Type="http://schemas.openxmlformats.org/officeDocument/2006/relationships/image" Target="/ppt/media/image11.png" Id="Refb7f56898bd4348" /><Relationship Type="http://schemas.openxmlformats.org/officeDocument/2006/relationships/notesSlide" Target="/ppt/notesSlides/notesSlide17.xml" Id="Ra41c58351e3449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a2d0090db4015" /><Relationship Type="http://schemas.openxmlformats.org/officeDocument/2006/relationships/image" Target="/ppt/media/image12.png" Id="R0fed748d54e24544" /><Relationship Type="http://schemas.openxmlformats.org/officeDocument/2006/relationships/notesSlide" Target="/ppt/notesSlides/notesSlide18.xml" Id="R87cba9e281a840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e7e8d337347af" /><Relationship Type="http://schemas.openxmlformats.org/officeDocument/2006/relationships/image" Target="/ppt/media/image13.png" Id="Rca332e45f825412c" /><Relationship Type="http://schemas.openxmlformats.org/officeDocument/2006/relationships/notesSlide" Target="/ppt/notesSlides/notesSlide19.xml" Id="R87495f1f092249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1770246cb4c8e" /><Relationship Type="http://schemas.openxmlformats.org/officeDocument/2006/relationships/image" Target="/ppt/media/image14.png" Id="Re3b0b6636e014dcc" /><Relationship Type="http://schemas.openxmlformats.org/officeDocument/2006/relationships/notesSlide" Target="/ppt/notesSlides/notesSlide20.xml" Id="R79f2310a95a144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07c21ef9a4835" /><Relationship Type="http://schemas.openxmlformats.org/officeDocument/2006/relationships/image" Target="/ppt/media/image15.png" Id="Ra5885ec096264de4" /><Relationship Type="http://schemas.openxmlformats.org/officeDocument/2006/relationships/notesSlide" Target="/ppt/notesSlides/notesSlide21.xml" Id="R49ff28594c1441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891ffff5f4bb4" /><Relationship Type="http://schemas.openxmlformats.org/officeDocument/2006/relationships/image" Target="/ppt/media/image16.png" Id="R85c90d7c26f54bbe" /><Relationship Type="http://schemas.openxmlformats.org/officeDocument/2006/relationships/notesSlide" Target="/ppt/notesSlides/notesSlide22.xml" Id="Rc78633a6ee3c49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30b0a69fd4a32" /><Relationship Type="http://schemas.openxmlformats.org/officeDocument/2006/relationships/image" Target="/ppt/media/image17.png" Id="R193ff8be63984b32" /><Relationship Type="http://schemas.openxmlformats.org/officeDocument/2006/relationships/notesSlide" Target="/ppt/notesSlides/notesSlide23.xml" Id="R8c79d401db484e0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ab732adad4be8" /><Relationship Type="http://schemas.openxmlformats.org/officeDocument/2006/relationships/notesSlide" Target="/ppt/notesSlides/notesSlide24.xml" Id="R56a2a93bfdca47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a14087fbb4080" /><Relationship Type="http://schemas.openxmlformats.org/officeDocument/2006/relationships/image" Target="/ppt/media/image18.png" Id="R9d749d386edb4635" /><Relationship Type="http://schemas.openxmlformats.org/officeDocument/2006/relationships/notesSlide" Target="/ppt/notesSlides/notesSlide25.xml" Id="R8891684bb5504a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4f03ae47e488f" /><Relationship Type="http://schemas.openxmlformats.org/officeDocument/2006/relationships/notesSlide" Target="/ppt/notesSlides/notesSlide26.xml" Id="Ra5c8d9b6771648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9e003866e4087" /><Relationship Type="http://schemas.openxmlformats.org/officeDocument/2006/relationships/notesSlide" Target="/ppt/notesSlides/notesSlide27.xml" Id="Re40307a44b2d44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bfff377164d06" /><Relationship Type="http://schemas.openxmlformats.org/officeDocument/2006/relationships/notesSlide" Target="/ppt/notesSlides/notesSlide28.xml" Id="R61e5c88195644b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05518b3424a67" /><Relationship Type="http://schemas.openxmlformats.org/officeDocument/2006/relationships/notesSlide" Target="/ppt/notesSlides/notesSlide29.xml" Id="R40f54dc5a4c9463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eb08189d848b2" /><Relationship Type="http://schemas.openxmlformats.org/officeDocument/2006/relationships/image" Target="/ppt/media/image19.png" Id="R9cc987916b774f41" /><Relationship Type="http://schemas.openxmlformats.org/officeDocument/2006/relationships/notesSlide" Target="/ppt/notesSlides/notesSlide30.xml" Id="R2fc6415db40a49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547ADF7-E260-566D-A7E3-0C526931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提案簡報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0B97B7-9080-8D52-B29C-7DDDF7DB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D531BEA-70E4-E26E-F0D7-651EC485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8F1A31-9042-10CA-3A2D-5F9E7B86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2026 年 9 月　功能提案與操作展示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1E53C30-82E9-DC91-99B8-8FDF6AF6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656A1AE-3A5F-CE4E-B18D-1D390C6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5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55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幼安雷達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89216-3903-C8A1-BB93-175845E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教保機構</a:t>
            </a:r>
          </a:p>
          <a:p xmlns:a="http://schemas.openxmlformats.org/drawingml/2006/main">
            <a:pPr>
              <a:buNone/>
              <a:def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風險預警平台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0420660-6CA4-5E7B-1EDA-E3C26564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協助主管機關排出查核優先順序</a:t>
            </a:r>
          </a:p>
        </p:txBody>
      </p:sp>
      <p:pic>
        <p:nvPicPr>
          <p:cNvPr id="23" name="圖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8d255f35f4308"/>
          <a:stretch xmlns:a="http://schemas.openxmlformats.org/drawingml/2006/main"/>
        </p:blipFill>
        <p:spPr>
          <a:xfrm xmlns:a="http://schemas.openxmlformats.org/drawingml/2006/main">
            <a:off x="6610350" y="1700328"/>
            <a:ext cx="4743450" cy="3685944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b6e0ad8814682"/>
          <a:stretch xmlns:a="http://schemas.openxmlformats.org/drawingml/2006/main"/>
        </p:blipFill>
        <p:spPr>
          <a:xfrm xmlns:a="http://schemas.openxmlformats.org/drawingml/2006/main">
            <a:off x="10553700" y="1143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3" name="隊伍名稱">
            <a:extLst xmlns:a="http://schemas.openxmlformats.org/drawingml/2006/main">
              <a:ext uri="{FF2B5EF4-FFF2-40B4-BE49-F238E27FC236}">
                <a16:creationId xmlns:a16="http://schemas.microsoft.com/office/drawing/2014/main" id="{87F554AF-F3DA-4C8E-BBC3-1FEA4259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b="1">
                <a:solidFill>
                  <a:srgbClr val="C5222A"/>
                </a:solidFill>
                <a:latin typeface="Heiti TC"/>
                <a:ea typeface="Heiti TC"/>
                <a:cs typeface="Heiti TC"/>
              </a:defRPr>
            </a:pPr>
            <a:r>
              <a:rPr b="1">
                <a:solidFill>
                  <a:srgbClr val="C5222A"/>
                </a:solidFill>
                <a:latin typeface="Heiti TC"/>
                <a:ea typeface="Heiti TC"/>
                <a:cs typeface="Heiti TC"/>
              </a:rPr>
              <a:t>隊伍：Bug不過夜</a:t>
            </a:r>
          </a:p>
        </p:txBody>
      </p:sp>
      <p:sp>
        <p:nvSpPr>
          <p:cNvPr id="14" name="提案局處">
            <a:extLst xmlns:a="http://schemas.openxmlformats.org/drawingml/2006/main">
              <a:ext uri="{FF2B5EF4-FFF2-40B4-BE49-F238E27FC236}">
                <a16:creationId xmlns:a16="http://schemas.microsoft.com/office/drawing/2014/main" id="{ECD0192F-609E-4E6F-AEBC-B4E9C720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4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r">
              <a:defRPr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提案局處：教育局</a:t>
            </a:r>
          </a:p>
        </p:txBody>
      </p:sp>
    </p:spTree>
    <p:extLst>
      <p:ext uri="{BB962C8B-B14F-4D97-AF65-F5344CB8AC3E}">
        <p14:creationId xmlns:p14="http://schemas.microsoft.com/office/powerpoint/2010/main" val="1936376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0C55115-BCA2-4951-BA82-A6DB9ADD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提案簡報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DE48C1-71E0-4301-8E53-CD4DC179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CC4226-DE6A-465D-9719-7C1766AD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F022519-C61B-4776-94B5-E53B18CA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2026 年 9 月　功能提案與操作展示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47817F-CB70-4F9D-AC1B-ED3B6EEB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DDEBDEC-A8C5-49A0-9D53-D030B0A0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5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55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幼安雷達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470ACA1-BCE0-4C40-BE89-13EC78F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教保機構</a:t>
            </a:r>
          </a:p>
          <a:p xmlns:a="http://schemas.openxmlformats.org/drawingml/2006/main">
            <a:pPr>
              <a:buNone/>
              <a:def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風險預警平台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6C01BA5-DEC4-4D92-B2E8-5B9D3A4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協助主管機關排出查核優先順序</a:t>
            </a:r>
          </a:p>
        </p:txBody>
      </p:sp>
      <p:pic>
        <p:nvPicPr>
          <p:cNvPr id="20" name="圖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8b298dc6347df"/>
          <a:stretch xmlns:a="http://schemas.openxmlformats.org/drawingml/2006/main"/>
        </p:blipFill>
        <p:spPr>
          <a:xfrm xmlns:a="http://schemas.openxmlformats.org/drawingml/2006/main">
            <a:off x="6610350" y="1700328"/>
            <a:ext cx="4743450" cy="36859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0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3F878DD-CC8C-4E3D-8664-86F60974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提案說明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4A0250-99F5-4772-A505-63828EED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主管機關每天要做的判斷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DB8E4D3-B5B4-43F9-B3CD-68F98EEA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F257FDB-81DC-4A42-92CD-7409287C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幼安雷達　教保機構風險預警平台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3D2578-DA5E-420B-A6F5-85913F2E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8537F28-A45B-476C-9F89-C57FC6F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11EC188-B858-4D9C-BF1A-6155BCF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先關注誰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E8F9A7B-0557-46FA-9931-52B2DE2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哪些園所值得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優先投入查核人力？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C746DBA-909B-491F-B78D-B3B2EE6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707999-0EDD-406C-B45C-3F6F38F4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為什麼要查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1A7595F-4691-4365-90B8-F5219E64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風險來自哪份資料？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判斷依據是否清楚？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6DB9FFC-8747-409C-8016-DF3D183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639A03C-F299-4018-A0E6-3650D5D7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接下來怎麼做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01C96A0-1B07-4A65-B8A1-0C1FEEB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由誰追查、何時完成，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結果如何留下紀錄？</a:t>
            </a:r>
          </a:p>
        </p:txBody>
      </p:sp>
    </p:spTree>
    <p:extLst>
      <p:ext uri="{BB962C8B-B14F-4D97-AF65-F5344CB8AC3E}">
        <p14:creationId xmlns:p14="http://schemas.microsoft.com/office/powerpoint/2010/main" val="324198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0653CD-D558-49E6-B87B-2094E439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問題背景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0FDD82B-2B19-46DD-878D-BFABBF97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分散的資料，增加查核前的整理工作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FE4693-C397-4A70-8BE7-ED1F123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C93A03-1FD8-4124-953F-262CF242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幼安雷達　教保機構風險預警平台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2CAF7CA-A20A-4118-B490-482E5A8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1E25F22-662F-460B-A4AE-3CD4FAED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3619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一間園所</a:t>
            </a:r>
          </a:p>
          <a:p xmlns:a="http://schemas.openxmlformats.org/drawingml/2006/main">
            <a:pPr>
              <a:buNone/>
              <a:def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多份資料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694682-CAB9-42EB-8CAA-7FCEB08D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承辦人需要先找齊資料，</a:t>
            </a:r>
          </a:p>
          <a:p xmlns:a="http://schemas.openxmlformats.org/drawingml/2006/main">
            <a:pPr>
              <a:buNone/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才能比較異常與安排查核。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697899A-78F4-4891-BF8B-DAC0349A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7167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基本資料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6C1073C-CB01-4167-B0F1-681A5C50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717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名稱、地址、招生規模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0DF967D-812F-4CB9-A60B-D9154AD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717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1ADCBBA-D3DC-4AC4-BE57-2ED1CBB8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0512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裁罰與評鑑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189E3B5-3D6D-42BD-89A5-2809C94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0517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缺失、改善與追蹤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7B85DBC-9879-4A0A-BC03-87D7CFE9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0522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734BA83-4B7A-4B75-969B-F2B4242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3857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收費與財務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5ABB974-4405-41B9-8049-C49A287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386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收入、支出與年度差異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0A8D15-EEC6-4518-932F-BBB0A2F0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386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A6D3218-AF31-45D2-B371-5E27C42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7202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公開輿情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5DF5CD9-C923-49C5-A5F5-CC790CCB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7207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相關事件與待查證線索</a:t>
            </a:r>
          </a:p>
        </p:txBody>
      </p:sp>
    </p:spTree>
    <p:extLst>
      <p:ext uri="{BB962C8B-B14F-4D97-AF65-F5344CB8AC3E}">
        <p14:creationId xmlns:p14="http://schemas.microsoft.com/office/powerpoint/2010/main" val="1154801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369AB80-B2CF-40B8-9405-8F1C6D52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方案全貌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E85C65-6162-42CD-B1C1-22B7FCD7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平台把資料整理接到後續查核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0E1DAD-AEE2-4D17-AEC5-3115AA3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B6A94AE-CBC2-41ED-A645-6ACB2A04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本次以互動 Demo 展示流程，正式服務仍需後續建置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12245-9EBA-445E-A151-1EFB114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086E38-B76C-48F0-BC76-0ED15D70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9CA5D31-F63F-44E2-9E04-1EC60DE4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193167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9D17390-C01D-4AD9-A964-9EC86DC3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9126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整理資料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121872A-4F1F-42AE-804B-B3EB19BB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91262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選擇類別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確認欄位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AA97E4-2466-4A9F-A798-4ABC2AB9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1962150"/>
            <a:ext cx="193167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64BED28-AB2B-498C-89CE-F010858B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3124200"/>
            <a:ext cx="19126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辨識風險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C879A4F-A503-4BC1-9D6E-278F5A06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3924300"/>
            <a:ext cx="191262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依規則排序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保留資料來源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401562-5290-41CE-B5D8-F2B2510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962150"/>
            <a:ext cx="193167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EA6AF93-F8C7-4139-9C86-74F8A35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124200"/>
            <a:ext cx="19126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人工覆核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8F47F63-E44D-4CE4-86BF-4BA618B7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924300"/>
            <a:ext cx="191262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確認依據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記錄判斷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CF7545-972D-4E18-961F-211DC73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560" y="1962150"/>
            <a:ext cx="193167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841564E-EE53-4C19-97D9-CB06A466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560" y="3124200"/>
            <a:ext cx="19126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追蹤調查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97FDCFB-F337-436F-9D60-CAFE73E2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560" y="3924300"/>
            <a:ext cx="191262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指定負責人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更新處理結果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27BD174-FF84-4AEE-97DE-F45D35F9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1962150"/>
            <a:ext cx="193167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017F185-33E4-4AC6-B8B8-5A0AA1E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3124200"/>
            <a:ext cx="19126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簽名交辦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F5BC13D-97B1-4694-A409-AC13E41D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3924300"/>
            <a:ext cx="191262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預覽文件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交付對應局處</a:t>
            </a:r>
          </a:p>
        </p:txBody>
      </p:sp>
    </p:spTree>
    <p:extLst>
      <p:ext uri="{BB962C8B-B14F-4D97-AF65-F5344CB8AC3E}">
        <p14:creationId xmlns:p14="http://schemas.microsoft.com/office/powerpoint/2010/main" val="88446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4FBE93-5BBD-4CB9-8F44-73CD37D7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資訊架構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E7869AE-AC56-4090-A1B7-7CFBE27D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三個入口，對應承辦人的工作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D256642-D8AD-448F-8D80-869519F2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26AA81-3625-4B56-9D63-02033569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幼安雷達　教保機構風險預警平台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615FB3C-8A8A-412E-A319-FBA4E59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21" name="圖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f199ea84047c0"/>
          <a:stretch xmlns:a="http://schemas.openxmlformats.org/drawingml/2006/main"/>
        </p:blipFill>
        <p:spPr>
          <a:xfrm xmlns:a="http://schemas.openxmlformats.org/drawingml/2006/main">
            <a:off x="1226335" y="1771650"/>
            <a:ext cx="795355" cy="4086225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EB8B683-BC38-4837-95E9-977A0F6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621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風險總覽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80C6ACE-9EA0-47B3-9A91-76A7A172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860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找園所、看分數，</a:t>
            </a:r>
          </a:p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再查看原因與依據。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6A9258C-586D-4FD0-BD8F-DFB60F1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621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稽核管理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9E1FC1F-66CD-4319-BD3A-79D90CCA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860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接續已覆核案件，</a:t>
            </a:r>
          </a:p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追蹤後續調查與交辦。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5179B03-8F63-436A-919A-FF19BEEA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6217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資料與規則設定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D89539B-9B2B-4F53-B9C9-28D6E92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86050"/>
            <a:ext cx="2428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整理匯入資料，</a:t>
            </a:r>
          </a:p>
          <a:p xmlns:a="http://schemas.openxmlformats.org/drawingml/2006/main">
            <a:pPr>
              <a:buNone/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維護欄位、規則與來源。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A3ED763-02A8-4355-9D59-C134A96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2768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園所詳情與 AI 建議放在同一條查核流程中</a:t>
            </a:r>
          </a:p>
        </p:txBody>
      </p:sp>
    </p:spTree>
    <p:extLst>
      <p:ext uri="{BB962C8B-B14F-4D97-AF65-F5344CB8AC3E}">
        <p14:creationId xmlns:p14="http://schemas.microsoft.com/office/powerpoint/2010/main" val="2051049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FF161FC-8A46-4BE2-8106-2F944A5F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功能藍圖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8C8859-C05D-4377-8CD0-875132F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功能爆炸圖中的八個模組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400DD2C-096C-4E50-B19F-F5E69DA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BE001DA-D9BC-4F9B-802F-06522E0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依使用者提供的 MVP 功能爆炸圖整理，完整原圖見附錄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4F3C29-935A-4D55-B5BB-F32E9729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E3DC43-8B07-4C52-A8D6-F1022DDE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轄區風險總覽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5C36482-D2AC-43C4-B220-9507C21E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掌握整體狀況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AE97FF1-D0B0-4966-ADE6-B3A5549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園所風險清單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9920E0F-AE68-49AD-8BA5-CEA43119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找到需優先關注的園所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772090D-4610-4B07-9AF1-0264A37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資料整合與異常偵測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CD58D5A-5D13-41C5-8B14-80802993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比對不同資料來源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385B0CE-A0B8-44E3-89E0-35DE8CC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可解釋風險評分引擎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E456735-99A9-4CB1-A04C-78AC0CBC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產生可追溯的分數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CACA33C-CECE-4D3C-A240-163CBE7D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園所 360° 風險詳情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346191D-7BC7-422D-96A0-EA323842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717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集中查看園所與異常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09485F-D8BF-4536-BD6C-0DDB379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輿情事件分析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58DC906-6FCF-4EC7-8490-E79D383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整理未查證的公開線索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625731-B80E-4DD7-A64F-B1FFD1C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查核摘要與建議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FBCA595-9C87-4701-8FC0-D922067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957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把原因轉成查核項目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26C4540-002C-4631-9EDE-5C533486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291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查核案件管理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E69D5-44B0-4787-B27E-D52FE80B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接續調查、回填與交辦</a:t>
            </a:r>
          </a:p>
        </p:txBody>
      </p:sp>
    </p:spTree>
    <p:extLst>
      <p:ext uri="{BB962C8B-B14F-4D97-AF65-F5344CB8AC3E}">
        <p14:creationId xmlns:p14="http://schemas.microsoft.com/office/powerpoint/2010/main" val="2129821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8DF6683-823E-411C-B5CB-08CBE6E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797BBA5-712D-40DB-BDFD-B22312B3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風險總覽：先找到需要關注的園所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F1A9291-3A8D-49C1-BEB6-7F17ED4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1F93F5E-318C-44DE-B0C3-502C4F1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FBAAF5-D953-4747-82C0-2D4AAEAB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05A2FF-662D-4FDC-8FD0-17DCEB85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地圖與清單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一起看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D2B5332-C78D-46F2-8A3F-0BA7E23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依行政區、風險等級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或園所名稱篩選。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高風險與資料不足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分開呈現。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1329700b44524"/>
          <a:stretch xmlns:a="http://schemas.openxmlformats.org/drawingml/2006/main"/>
        </p:blipFill>
        <p:spPr>
          <a:xfrm xmlns:a="http://schemas.openxmlformats.org/drawingml/2006/main">
            <a:off x="4362450" y="1828784"/>
            <a:ext cx="6991350" cy="39243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60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6143D81-D8EB-4DBE-87B3-ED11B8A4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BF0C70-953F-46DD-A27E-8267C68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案例：幸福幼兒園的 82 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15B5F20-C79B-48DD-B08B-A7D14241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AC25097-F955-4605-9862-C6BCD5A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幸福幼兒園為模擬案例，分數不代表違法認定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F7D0D54-2A80-493D-B7BA-24DD294C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F3AC38A-2263-4376-9937-1D9A0D4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先看摘要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再進入詳情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524B1C-0CFB-4276-A382-EFC0E00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地圖標記顯示分數。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點一下就能看到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主要原因與資料完整度。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1ce05c13d45b5"/>
          <a:stretch xmlns:a="http://schemas.openxmlformats.org/drawingml/2006/main"/>
        </p:blipFill>
        <p:spPr>
          <a:xfrm xmlns:a="http://schemas.openxmlformats.org/drawingml/2006/main">
            <a:off x="5173679" y="1704975"/>
            <a:ext cx="5368892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03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754835-62B5-413D-9A7A-69162402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11BDF2-98A1-4EE8-BF90-BCF8FE76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四個構面，說明分數從哪裡來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D45F0F5-8AC3-4418-8612-A8343DB9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F607B8-4D5F-4318-A758-8B6CBF6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模擬案例的四項分數合計 82；構面上限合計 100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E2EE52D-25E3-42B8-9C7B-8FEA7C81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526EDE-2AA8-4F04-B99B-357A08ED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總分 82 分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可以拆開看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5BBEE0-3055-4E06-964C-94D65790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法遵 36／40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財務 27／35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資料一致性 12／15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輿情 7／10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ee2cc2ed540a0"/>
          <a:stretch xmlns:a="http://schemas.openxmlformats.org/drawingml/2006/main"/>
        </p:blipFill>
        <p:spPr>
          <a:xfrm xmlns:a="http://schemas.openxmlformats.org/drawingml/2006/main">
            <a:off x="4362450" y="2534558"/>
            <a:ext cx="6991350" cy="25127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83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25FD608-8992-4181-868D-408B3CD7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D23F25-9F84-4866-9050-324EE02F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每個異常都有判斷依據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EF1F5E-E97D-4140-A2B0-9EFE9509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A5F7658-FDCD-40A5-81DB-813F65E6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76375C7-2693-461A-8167-7244CD85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1C3596-DC41-4709-841F-39C107E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承辦人看得懂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也查得到來源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C9A3BE2-6FD4-472A-A862-4AB0FF0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呈現資料來源、觀察值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以及判斷規則。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用白話說明影響，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保留人工確認空間。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3db7e9ab94b5f"/>
          <a:stretch xmlns:a="http://schemas.openxmlformats.org/drawingml/2006/main"/>
        </p:blipFill>
        <p:spPr>
          <a:xfrm xmlns:a="http://schemas.openxmlformats.org/drawingml/2006/main">
            <a:off x="6182411" y="1704975"/>
            <a:ext cx="3351428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70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5D55FA9-1F90-4E80-AB5C-7456CAD6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判斷示例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99BA348-6F96-4170-8C85-1381ABC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財務異常：先看差異，再查原因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074184-5E12-4CD8-9B99-ACD5D889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CED208-5243-43EC-9707-ED610F9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以下均為 Demo 模擬資料，差異只代表需要確認的線索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726EBC-3EF6-4033-A4B4-74909E9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EE7C799-7A33-4E96-9180-28591B5A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同類園所比較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7AA3171-C111-4A65-A0B5-F53FB7EF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146,000 元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A955736-DE6D-43D7-9316-5FE5D65A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本園每生人事成本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91F19AD-8F8D-4CAF-9A3F-655A6695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同類園所多數為</a:t>
            </a:r>
          </a:p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72,000～98,000 元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FB18B67-92F1-42D4-81A0-98E2D364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年度變化比較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1B15308-B294-4F8E-9847-76E7A85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約增加 40%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9968E22-C87C-4E28-BB3A-4D9D3C8E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人事費由 1,043 萬至 1,460 萬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A4E2686-D872-41AE-B187-C81921F8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同期學生數約增加 5%</a:t>
            </a:r>
          </a:p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需要釐清支出成長原因</a:t>
            </a:r>
          </a:p>
        </p:txBody>
      </p:sp>
    </p:spTree>
    <p:extLst>
      <p:ext uri="{BB962C8B-B14F-4D97-AF65-F5344CB8AC3E}">
        <p14:creationId xmlns:p14="http://schemas.microsoft.com/office/powerpoint/2010/main" val="2066547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B0B594D-74A5-4AC0-B7F6-A2D3920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判斷示例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4954B5-10CE-4EA2-BFA7-F3FFD673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收入差異，轉成具體的查核問題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80AF486-BBA9-49E1-AC36-AAFEF96C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879B5E2-2B60-4C32-967A-5F84A480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模擬資料：差額 320 萬元，約為推估收入的 53%，尚需確認收入來源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EA6EC9-139E-4984-9564-6E2CEC90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04C10CE-9E25-49DB-BF38-11B4BA6F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600 萬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1866F9-8B19-44D6-B40D-6FAF3E94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依收費與招生人數推估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65C1F4-88C6-426F-BA04-F9B53E3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每月 5,000 元 × 100 人 × 12 個月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5D2AA12-E423-4E7A-B0D7-7A7A264F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4787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920 萬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D3E20CE-D8E3-41D6-A334-FC7714DB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財務資料中的年度收入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6EC599E-D62A-4DCC-908A-91FE938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FA91DE5-DB24-438F-9247-6A0C089F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下一步：確認延托費、代辦費、補助或其他收入</a:t>
            </a:r>
          </a:p>
        </p:txBody>
      </p:sp>
    </p:spTree>
    <p:extLst>
      <p:ext uri="{BB962C8B-B14F-4D97-AF65-F5344CB8AC3E}">
        <p14:creationId xmlns:p14="http://schemas.microsoft.com/office/powerpoint/2010/main" val="1643065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694B0AE-2941-4F21-BF93-779C3296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B9E6FF-44DD-4E21-B151-BF76BA81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資料不足，需要先補齊資料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D66C76B-0902-461E-860F-5A795904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E1B45ED-2532-4666-B2A7-DEFC07E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星河幼兒園為模擬案例，資料不足與低風險分開標示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FEFB8D-978F-4052-96EA-01C091B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7010F97-C8CC-4C43-8B00-F2444F4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34% 完整度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無法完整評估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E706710-DFF6-4C36-AADC-357AFD36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缺少資料時，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不把園所標成安全。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先補財務與收費資料，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再進行後續判斷。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aa25cd7244c0"/>
          <a:stretch xmlns:a="http://schemas.openxmlformats.org/drawingml/2006/main"/>
        </p:blipFill>
        <p:spPr>
          <a:xfrm xmlns:a="http://schemas.openxmlformats.org/drawingml/2006/main">
            <a:off x="5218728" y="1704975"/>
            <a:ext cx="5278794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29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CE3A77B-09DB-4FC6-9A4B-EB767C60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6A04CE-D095-4B0B-AA21-F0358250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建議，協助列出要查的事項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9B617B8-DE62-405A-9CBE-449EC59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6026746-30A0-4A72-9BBD-D5A70103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目前顯示固定示範建議，尚未呼叫 AI 服務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2586A00-8746-4136-BD04-BCA3BBB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A6F2AAB-ED7E-4F3C-A83A-6AB9862A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把風險原因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轉成工作清單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20D539-9D09-439C-891E-C5339AA2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例如核對薪資明細、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確認收費收入來源。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承辦人逐項確認，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保留最終判斷。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4ede21b4d499d"/>
          <a:stretch xmlns:a="http://schemas.openxmlformats.org/drawingml/2006/main"/>
        </p:blipFill>
        <p:spPr>
          <a:xfrm xmlns:a="http://schemas.openxmlformats.org/drawingml/2006/main">
            <a:off x="5191988" y="1704975"/>
            <a:ext cx="5332274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031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F7D302B-3C55-4DB3-A2C8-DBF1E85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DB3DD8-CABA-4B0C-96B9-4286EBA6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人工覆核，留下承辦人的判斷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3958B77-4B63-4295-9CCF-CFE02837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19B94B8-D7F7-4417-B2DE-1D04E86E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Demo 覆核內容保存在目前瀏覽器，尚無正式帳號權限系統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4F7D042-8BE9-424A-B54E-660239F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120434-BE8D-40B5-90C3-E10323CA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確認後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記錄下一步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950EEC-820F-47B2-926C-50F3171A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設定處理狀態與日期，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填寫備註和後續事項。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儲存後，案件接到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稽核管理。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41a0231554e10"/>
          <a:stretch xmlns:a="http://schemas.openxmlformats.org/drawingml/2006/main"/>
        </p:blipFill>
        <p:spPr>
          <a:xfrm xmlns:a="http://schemas.openxmlformats.org/drawingml/2006/main">
            <a:off x="6898154" y="1704975"/>
            <a:ext cx="1919942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055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C7A986C-B9C8-4794-A4ED-AFF949B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4D5C8-EF93-473B-B6B8-2BEAFAD3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稽核管理，接住已覆核的案件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A5594A0-72AB-4BC7-AA28-8D031EA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A7D63E-3E06-4CBF-831C-B1B54CE0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BE9115-B017-46D4-A5E2-B28FD1B2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7EC58F-704D-47CB-98B9-691B9986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每件案件都有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待辦與負責人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C2454E-D510-4277-A1DE-59AEF146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查看下一步行動、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對應局處與完成期限。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集中追蹤待處理、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調查中與待補件案件。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7f56898bd4348"/>
          <a:stretch xmlns:a="http://schemas.openxmlformats.org/drawingml/2006/main"/>
        </p:blipFill>
        <p:spPr>
          <a:xfrm xmlns:a="http://schemas.openxmlformats.org/drawingml/2006/main">
            <a:off x="4362450" y="2429508"/>
            <a:ext cx="6991350" cy="27228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33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6427862-B914-474C-8A9A-41BF184A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E30ED1C-30D2-4263-ABF4-0BB3C86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後續調查，持續更新處理進度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61E3BE0-A48E-4403-BC62-94DD8E35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3A8AE30-F2DF-4A6B-BDB4-3026CF08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BAC242C-546A-42D2-AF7F-12659CF0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8FE5BC6-1302-4A90-82DE-4B8A5E8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完成一項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留下處理結果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6B3DB0D-86F1-4A9E-963A-82B7131D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可以新增行動、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指定負責人與期限。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每次更新保留紀錄，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讓案件交接有前情可查。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d748d54e24544"/>
          <a:stretch xmlns:a="http://schemas.openxmlformats.org/drawingml/2006/main"/>
        </p:blipFill>
        <p:spPr>
          <a:xfrm xmlns:a="http://schemas.openxmlformats.org/drawingml/2006/main">
            <a:off x="4838676" y="1704975"/>
            <a:ext cx="6038898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54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D93E74-0073-4100-9193-12EDC11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BE866B-C83A-463B-B0EF-B626ED85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含簽名的交辦文件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97CAEBC-2910-43D5-BE2D-DED30C4F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4B49529-594E-4774-9A0E-6102B51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Demo 使用示範簽名與 PDF 預覽，匯出按鈕僅展示成功提示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56A5A6F-9E13-4A1A-837D-0949CE31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9D71193-75C5-4F0F-A1EE-DDB05E9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整理成局處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能接續處理的文件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F9C1BF-941F-43D7-83DC-389090E5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帶入覆核摘要、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後續行動與承辦人簽名。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匯出前確認交付局處、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負責人與處理期限。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32e45f825412c"/>
          <a:stretch xmlns:a="http://schemas.openxmlformats.org/drawingml/2006/main"/>
        </p:blipFill>
        <p:spPr>
          <a:xfrm xmlns:a="http://schemas.openxmlformats.org/drawingml/2006/main">
            <a:off x="5613722" y="1704975"/>
            <a:ext cx="4488807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85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683AFB-B522-468F-9CC9-EDDFEA1C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17DF664-E390-4109-BAA2-495D652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資料匯入，先選這次需要的內容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657EC04-2B2F-4425-8F75-DF4EC7F6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F9D2D19-6726-43EF-BA0B-52F621F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目前以固定假資料示範，不讀取、不上傳檔案，也未串接 AI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64783F-8D7C-44A1-8126-B1C7895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B58EFF-78A5-4BF1-80A5-FB2090A9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不同局處檔案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使用同一個入口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1C058BC-97BB-4C29-8875-B1462242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先勾選基本資料、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收費、財務或裁罰等類別。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再上傳檔案，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由 AI 協助整理。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0b6636e014dcc"/>
          <a:stretch xmlns:a="http://schemas.openxmlformats.org/drawingml/2006/main"/>
        </p:blipFill>
        <p:spPr>
          <a:xfrm xmlns:a="http://schemas.openxmlformats.org/drawingml/2006/main">
            <a:off x="4362450" y="2181974"/>
            <a:ext cx="6991350" cy="32179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876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4AEB91C-68E8-414C-A631-CD6DB701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FF577B-4FCE-4983-841E-B91BDA5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辨識欄位，承辦人確認對應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0841F10-4BD0-45FD-B920-94D71BC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36186F9-01AD-4379-8A47-A1C9EE0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欄位對應畫面為模擬結果，正式辨識能力需後續建置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DC3D04-4D70-4344-ADB2-4F5ADC2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1FD569B-663A-4550-9936-60DD74B3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名稱不同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仍可整理成一致欄位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A1D561-210A-4FFE-8456-FA37373B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例如「機構名稱」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對應到「園所名稱」。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可調整對應、取消勾選，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只匯入需要的欄位。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85ec096264de4"/>
          <a:stretch xmlns:a="http://schemas.openxmlformats.org/drawingml/2006/main"/>
        </p:blipFill>
        <p:spPr>
          <a:xfrm xmlns:a="http://schemas.openxmlformats.org/drawingml/2006/main">
            <a:off x="4362450" y="2539039"/>
            <a:ext cx="6991350" cy="25038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362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E100CF4-EA2D-4A4A-A34D-8AA2BE9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7E86E75-4897-421C-B09D-A3BCBD1D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匯入前，逐列檢查與修正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F8A1D9E-683C-41B1-A295-7542A184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0E7BC2C-638F-4B29-9D8B-E13BCF7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此頁為固定假資料的模擬匯入流程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232377A-2B78-45CC-B878-E3D27EF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9459C6D-0CDE-48A8-83C8-40C177A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看清楚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新增還是更新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4959A12-5598-488D-A9FA-43C267E7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預覽整理後的內容，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修正或取消個別資料列。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確認後保留匯入紀錄，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便於追溯檔案來源。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90d7c26f54bbe"/>
          <a:stretch xmlns:a="http://schemas.openxmlformats.org/drawingml/2006/main"/>
        </p:blipFill>
        <p:spPr>
          <a:xfrm xmlns:a="http://schemas.openxmlformats.org/drawingml/2006/main">
            <a:off x="4362450" y="2263479"/>
            <a:ext cx="6991350" cy="30549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928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10A10D1-327B-47E2-9811-C2CE462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5DE825-6C74-4097-941C-ABCCC1F5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規則可調整，版本可追溯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5ABE4F-63AD-4D4F-8D89-C3C9C4AF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03E9F74-B1A4-44DA-858F-EA119F0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Demo 保存設定版本，不會依修改後的規則重新計算園所分數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FBDE9A1-1CC5-499A-BBC4-57229F5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49D271C-7956-4745-ACBC-8D7FB1A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政策與資料改變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仍可維護判斷方式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4531069-ECD4-4CFB-907B-16B611EA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以白話編輯條件，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設定影響程度與啟停狀態。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保留修改版本，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知道當時採用什麼規則。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ff8be63984b32"/>
          <a:stretch xmlns:a="http://schemas.openxmlformats.org/drawingml/2006/main"/>
        </p:blipFill>
        <p:spPr>
          <a:xfrm xmlns:a="http://schemas.openxmlformats.org/drawingml/2006/main">
            <a:off x="4362450" y="2474789"/>
            <a:ext cx="6991350" cy="26323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551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1F1CC14-8B20-4D29-85CB-8478403E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後續建置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E32FEC4-A2A7-462A-A0C2-7DDBDD5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輿情事件分析的建置方向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E3A7A13-9461-426B-96F6-8EEC6419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52E7384-A4F2-4A34-8F7A-E4C26B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爆炸圖列為 P1；目前 Demo 尚未提供完整輿情事件分析功能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8C1C8BB-1A19-4C87-9F69-A971BAB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3CBC9-DC69-4F69-A961-B098AFF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8039804-B39A-4B9A-BF72-0BE6A575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整理事件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1D74446-E46D-46B4-8FD1-442E06A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辨識相關園所，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合併重複討論與報導。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2CE8EB6-5203-4D53-89B8-BB5ADC5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7D3FC89-C4AC-4400-9C39-8D7AC0A3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標示可信度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241E21B-34DC-4E45-A639-196B9B1B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保留來源、日期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與未查證的標示。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99BA846-B6E5-4BBD-812F-DAD27DF9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80DF444-E1A2-4095-9439-4F554694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提供查核線索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9CF400-A981-482F-AB84-349DB2CD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協助安排確認事項，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由人員回到正式事證查核。</a:t>
            </a:r>
          </a:p>
        </p:txBody>
      </p:sp>
    </p:spTree>
    <p:extLst>
      <p:ext uri="{BB962C8B-B14F-4D97-AF65-F5344CB8AC3E}">
        <p14:creationId xmlns:p14="http://schemas.microsoft.com/office/powerpoint/2010/main" val="19072096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7127B20-4582-42B7-84ED-FC06F7EF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DCB68C-F4AF-4549-A58D-5C52D1A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功能說明，降低第一次使用的門檻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69853C-7F4A-4195-84B0-1AA7173C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0AB6F35-FF9A-4A8F-8EE7-6317824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目前 Demo 已提供可操作的功能說明彈窗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CE947F3-64E1-41BB-9DE0-05814B7E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3367FA-9296-44C3-A657-786914C0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57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需要說明時</a:t>
            </a:r>
          </a:p>
          <a:p xmlns:a="http://schemas.openxmlformats.org/drawingml/2006/main">
            <a:pPr>
              <a:buNone/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點一下「！」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7AC55A9-B3BF-43C5-AB99-CC99FA5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在功能旁提供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用途與操作步驟。</a:t>
            </a:r>
          </a:p>
          <a:p xmlns:a="http://schemas.openxmlformats.org/drawingml/2006/main"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看完關閉提示，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接著完成原本的工作。</a:t>
            </a:r>
          </a:p>
        </p:txBody>
      </p:sp>
      <p:pic>
        <p:nvPicPr>
          <p:cNvPr id="1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49d386edb4635"/>
          <a:stretch xmlns:a="http://schemas.openxmlformats.org/drawingml/2006/main"/>
        </p:blipFill>
        <p:spPr>
          <a:xfrm xmlns:a="http://schemas.openxmlformats.org/drawingml/2006/main">
            <a:off x="5664540" y="1704975"/>
            <a:ext cx="4387170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653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D2F5D02-27DB-45E8-B9C2-AD15983B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範圍與規劃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70CACB9-28A5-474A-9FFB-1E674F81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目前能展示什麼，正式版還需要什麼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A4CA2B7-279C-4A14-B3A5-AD92FF9C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0AE954-970A-484D-897C-021115A7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展示完成不等於正式服務已建置，試辦前仍需確認資料與治理規範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1B13A29-9338-4ABC-8974-F1463FE1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14" name="表格 11"/>
          <p:cNvGraphicFramePr/>
          <p:nvPr/>
        </p:nvGraphicFramePr>
        <p:xfrm>
          <a:off xmlns:a="http://schemas.openxmlformats.org/drawingml/2006/main" x="838200" y="1885950"/>
          <a:ext xmlns:a="http://schemas.openxmlformats.org/drawingml/2006/main" cx="105156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619500"/>
                <a:gridCol w="4657725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A3A3A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A3A3A"/>
                          </a:solidFill>
                          <a:latin typeface="Heiti TC"/>
                          <a:ea typeface="Heiti TC"/>
                          <a:cs typeface="Heiti TC"/>
                        </a:rPr>
                        <a:t>目前 Demo</a:t>
                      </a:r>
                    </a:p>
                  </a:txBody>
                  <a:tcPr marL="91440" marR="91440" marT="45720" marB="45720" anchor="ctr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A3A3A"/>
                          </a:solidFill>
                          <a:latin typeface="Heiti TC"/>
                          <a:ea typeface="Heiti TC"/>
                          <a:cs typeface="Heiti TC"/>
                        </a:rPr>
                        <a:t>正式建置需求</a:t>
                      </a:r>
                    </a:p>
                  </a:txBody>
                  <a:tcPr marL="91440" marR="91440" marT="45720" marB="45720" anchor="ctr">
                    <a:solidFill>
                      <a:srgbClr val="FBF7F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風險與依據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模擬分數、來源與原因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串接資料、驗證評分規則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人工覆核與案件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可操作表單與待辦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帳號權限、共用資料庫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AI 資料整理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固定範例與欄位對應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解析檔案、OCR 與 AI 辨識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簽名與 PDF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示範簽名、文件預覽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簽名管理、實際 PDF 產生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輿情事件分析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構面與概念展示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事件分類、去重與查證流程</a:t>
                      </a:r>
                    </a:p>
                  </a:txBody>
                  <a:tcPr marL="91440" marR="91440" marT="45720" marB="45720" anchor="ctr"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5116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0628465-145E-485D-8129-D92156F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建置提案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27F3B9A-393D-4CDC-AFBE-0A675787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建置順序，以完整查核流程為核心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79769AF-D595-49BA-924F-224B9DB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BC575EF-2150-4376-BE04-207E45A0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原圖 P0 為核心必做，P1 為延伸；本次 Demo 已先展示案件與 AI 匯入情境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656C8D-1670-42E9-9A31-BE69D13E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5CCD18C-4EAA-4A54-AAAD-C9BEBC26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982241E-2D8B-4B3A-A25C-9CAE2E4B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47EBAB-9FF0-42DB-82CC-186F534D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31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核心查核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2B8313-C229-426F-A981-D1EA28B2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3314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總覽、清單、詳情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評分依據與查核建議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AB51DF-D9BC-4E13-98F4-515C12BD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9EFD5D8-1786-4AEB-A6C2-5ACC792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24200"/>
            <a:ext cx="331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處理與交辦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3111544-51E5-46A7-9DE3-C21134BB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3314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覆核、案件、行動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承辦簽名與 PDF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299CFF7-0D1C-419B-981D-63C3732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72A1CF1-23D8-4C68-B0E9-8133E2C4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24200"/>
            <a:ext cx="331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資料深化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BF7B6-3509-43EA-B355-056E4C2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3314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正式資料匯入</a:t>
            </a:r>
          </a:p>
          <a:p xmlns:a="http://schemas.openxmlformats.org/drawingml/2006/main">
            <a:pPr>
              <a:buNone/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異常偵測與輿情分析</a:t>
            </a:r>
          </a:p>
        </p:txBody>
      </p:sp>
    </p:spTree>
    <p:extLst>
      <p:ext uri="{BB962C8B-B14F-4D97-AF65-F5344CB8AC3E}">
        <p14:creationId xmlns:p14="http://schemas.microsoft.com/office/powerpoint/2010/main" val="8161158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7779EE0-C58C-46D0-A2B0-AF49B499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試辦建議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5D1BEEF-7554-4286-8A78-23B2997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試辦先驗證承辦人能否完成工作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0D1ABC-4DA2-410C-AA82-34233E01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E59664-26A7-4689-82AE-33BA7364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以上為建議驗證項目，尚未進行成效量測或作出效率提升承諾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9BA522B-EF6F-4F99-96AB-8908733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207DB89-2B4A-40C9-B69D-55E6631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E959C75-5A6D-48B2-AD19-FAEDB52C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找得到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7A2F370-79A4-4B4F-B30D-3934EDFA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能否找到需優先關注的園所？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記錄查找與整理所需時間。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7D5221-D5C9-4140-8548-F23FE70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6DCB71A-9EB8-4A45-9C7C-4D66E134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看得懂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CCBAE83-C378-4250-B053-1D955A57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能否說出風險原因與來源？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記錄覆核時遇到的疑問。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8E85BE1-73A1-4B04-9487-CD0342BE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4312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B88E102-FAE2-46B8-8679-ECD262B1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接得下去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563D0EA-8731-4108-9F40-4C3965BA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1718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能否完成後續行動與交辦？</a:t>
            </a:r>
          </a:p>
          <a:p xmlns:a="http://schemas.openxmlformats.org/drawingml/2006/main">
            <a:pPr>
              <a:buNone/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追蹤未完成事項與回覆情形。</a:t>
            </a:r>
          </a:p>
        </p:txBody>
      </p:sp>
    </p:spTree>
    <p:extLst>
      <p:ext uri="{BB962C8B-B14F-4D97-AF65-F5344CB8AC3E}">
        <p14:creationId xmlns:p14="http://schemas.microsoft.com/office/powerpoint/2010/main" val="10487024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1C1A816-4EDE-4F5D-8C8E-FA0773A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提案重點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33A280-AF14-436A-9A53-E9D08C8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讓每次查核，都有清楚的依據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284D0C8-0CD8-4A02-80D7-54D92049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2718BED-1464-4D59-89AC-7CAFC9AA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AI 輔助整理與建議，行政判斷由權責機關依正式事證作成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9507CF3-576A-4684-8850-BA5CFCC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2F47465-D0AC-4738-962A-C58B7E2F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先找到需要關注的園所，</a:t>
            </a:r>
          </a:p>
          <a:p xmlns:a="http://schemas.openxmlformats.org/drawingml/2006/main">
            <a:pPr>
              <a:buNone/>
              <a:def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再把原因交代清楚，</a:t>
            </a:r>
          </a:p>
          <a:p xmlns:a="http://schemas.openxmlformats.org/drawingml/2006/main">
            <a:pPr>
              <a:buNone/>
              <a:def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最後讓調查有下一步。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001D262-306F-4E10-B2B4-4A640FAB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幼安雷達</a:t>
            </a:r>
          </a:p>
        </p:txBody>
      </p:sp>
    </p:spTree>
    <p:extLst>
      <p:ext uri="{BB962C8B-B14F-4D97-AF65-F5344CB8AC3E}">
        <p14:creationId xmlns:p14="http://schemas.microsoft.com/office/powerpoint/2010/main" val="6719870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A5131B-E45E-4594-8E40-2E5AD447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附錄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A2903F5-BEF3-40F8-AB2E-AD842BA2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原始 MVP 功能爆炸圖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51B7B7-C42D-489E-BE20-5B43F166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0EA7360-526D-4ED2-953C-CFFCFC25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來源：教保風險平台_MVP功能爆炸圖.png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AAA0A2-E59A-45C1-8230-3D9A9542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pic>
        <p:nvPicPr>
          <p:cNvPr id="14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987916b774f41"/>
          <a:stretch xmlns:a="http://schemas.openxmlformats.org/drawingml/2006/main"/>
        </p:blipFill>
        <p:spPr>
          <a:xfrm xmlns:a="http://schemas.openxmlformats.org/drawingml/2006/main">
            <a:off x="2201333" y="1619250"/>
            <a:ext cx="7789333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27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2026-09-12T01:33:13.2500000Z</dcterms:created>
  <dcterms:modified xsi:type="dcterms:W3CDTF">2026-09-12T01:33:13.2500000Z</dcterms:modified>
</coreProperties>
</file>
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2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本頁說明：本提案根據目前 HTML Demo 與功能爆炸圖整理。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本頁說明：先關注誰：哪些園所值得</a:t>
            </a:r>
          </a:p>
          <a:p>
            <a:r>
              <a:t>優先投入查核人力？；為什麼要查：風險來自哪份資料？</a:t>
            </a:r>
          </a:p>
          <a:p>
            <a:r>
              <a:t>判斷依據是否清楚？；接下來怎麼做：由誰追查、何時完成，</a:t>
            </a:r>
          </a:p>
          <a:p>
            <a:r>
              <a:t>結果如何留下紀錄？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本頁說明：需求指出基本、評鑑、裁罰、收費及財務等資料分散，承辦人需人工整理。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本頁說明：整理資料：選擇類別</a:t>
            </a:r>
          </a:p>
          <a:p>
            <a:r>
              <a:t>確認欄位；辨識風險：依規則排序</a:t>
            </a:r>
          </a:p>
          <a:p>
            <a:r>
              <a:t>保留資料來源；人工覆核：確認依據</a:t>
            </a:r>
          </a:p>
          <a:p>
            <a:r>
              <a:t>記錄判斷；追蹤調查：指定負責人</a:t>
            </a:r>
          </a:p>
          <a:p>
            <a:r>
              <a:t>更新處理結果；簽名交辦：預覽文件</a:t>
            </a:r>
          </a:p>
          <a:p>
            <a:r>
              <a:t>交付對應局處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本頁說明：目前 Demo 的側欄包含風險總覽、稽核管理、資料與規則設定。園所詳情與 AI 建議位於總覽下。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本頁說明：原圖共八個模組，依查核流程分組介紹。原圖 P0/P1 標記保留在附錄。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本頁說明：地圖與清單</a:t>
            </a:r>
          </a:p>
          <a:p>
            <a:r>
              <a:t>一起看。依行政區、風險等級</a:t>
            </a:r>
          </a:p>
          <a:p>
            <a:r>
              <a:t>或園所名稱篩選。</a:t>
            </a:r>
          </a:p>
          <a:p>
            <a:endParaRPr/>
          </a:p>
          <a:p>
            <a:r>
              <a:t>高風險與資料不足</a:t>
            </a:r>
          </a:p>
          <a:p>
            <a:r>
              <a:t>分開呈現。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本頁說明：先看摘要</a:t>
            </a:r>
          </a:p>
          <a:p>
            <a:r>
              <a:t>再進入詳情。地圖標記顯示分數。</a:t>
            </a:r>
          </a:p>
          <a:p>
            <a:endParaRPr/>
          </a:p>
          <a:p>
            <a:r>
              <a:t>點一下就能看到</a:t>
            </a:r>
          </a:p>
          <a:p>
            <a:r>
              <a:t>主要原因與資料完整度。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本頁說明：總分 82 分</a:t>
            </a:r>
          </a:p>
          <a:p>
            <a:r>
              <a:t>可以拆開看。法遵 36／40</a:t>
            </a:r>
          </a:p>
          <a:p>
            <a:r>
              <a:t>財務 27／35</a:t>
            </a:r>
          </a:p>
          <a:p>
            <a:r>
              <a:t>資料一致性 12／15</a:t>
            </a:r>
          </a:p>
          <a:p>
            <a:r>
              <a:t>輿情 7／10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本頁說明：承辦人看得懂</a:t>
            </a:r>
          </a:p>
          <a:p>
            <a:r>
              <a:t>也查得到來源。呈現資料來源、觀察值</a:t>
            </a:r>
          </a:p>
          <a:p>
            <a:r>
              <a:t>以及判斷規則。</a:t>
            </a:r>
          </a:p>
          <a:p>
            <a:endParaRPr/>
          </a:p>
          <a:p>
            <a:r>
              <a:t>用白話說明影響，</a:t>
            </a:r>
          </a:p>
          <a:p>
            <a:r>
              <a:t>保留人工確認空間。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本頁說明：目前 Demo 以模擬數值呈現同類比較與年度變化。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本頁說明：月費5000元、100人、12個月推估年收入600萬元，財務收入920萬元，差異約53%。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本頁說明：34% 完整度</a:t>
            </a:r>
          </a:p>
          <a:p>
            <a:r>
              <a:t>無法完整評估。缺少資料時，</a:t>
            </a:r>
          </a:p>
          <a:p>
            <a:r>
              <a:t>不把園所標成安全。</a:t>
            </a:r>
          </a:p>
          <a:p>
            <a:endParaRPr/>
          </a:p>
          <a:p>
            <a:r>
              <a:t>先補財務與收費資料，</a:t>
            </a:r>
          </a:p>
          <a:p>
            <a:r>
              <a:t>再進行後續判斷。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本頁說明：把風險原因</a:t>
            </a:r>
          </a:p>
          <a:p>
            <a:r>
              <a:t>轉成工作清單。例如核對薪資明細、</a:t>
            </a:r>
          </a:p>
          <a:p>
            <a:r>
              <a:t>確認收費收入來源。</a:t>
            </a:r>
          </a:p>
          <a:p>
            <a:endParaRPr/>
          </a:p>
          <a:p>
            <a:r>
              <a:t>承辦人逐項確認，</a:t>
            </a:r>
          </a:p>
          <a:p>
            <a:r>
              <a:t>保留最終判斷。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本頁說明：確認後</a:t>
            </a:r>
          </a:p>
          <a:p>
            <a:r>
              <a:t>記錄下一步。設定處理狀態與日期，</a:t>
            </a:r>
          </a:p>
          <a:p>
            <a:r>
              <a:t>填寫備註和後續事項。</a:t>
            </a:r>
          </a:p>
          <a:p>
            <a:endParaRPr/>
          </a:p>
          <a:p>
            <a:r>
              <a:t>儲存後，案件接到</a:t>
            </a:r>
          </a:p>
          <a:p>
            <a:r>
              <a:t>稽核管理。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本頁說明：每件案件都有</a:t>
            </a:r>
          </a:p>
          <a:p>
            <a:r>
              <a:t>待辦與負責人。查看下一步行動、</a:t>
            </a:r>
          </a:p>
          <a:p>
            <a:r>
              <a:t>對應局處與完成期限。</a:t>
            </a:r>
          </a:p>
          <a:p>
            <a:endParaRPr/>
          </a:p>
          <a:p>
            <a:r>
              <a:t>集中追蹤待處理、</a:t>
            </a:r>
          </a:p>
          <a:p>
            <a:r>
              <a:t>調查中與待補件案件。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本頁說明：完成一項</a:t>
            </a:r>
          </a:p>
          <a:p>
            <a:r>
              <a:t>留下處理結果。可以新增行動、</a:t>
            </a:r>
          </a:p>
          <a:p>
            <a:r>
              <a:t>指定負責人與期限。</a:t>
            </a:r>
          </a:p>
          <a:p>
            <a:endParaRPr/>
          </a:p>
          <a:p>
            <a:r>
              <a:t>每次更新保留紀錄，</a:t>
            </a:r>
          </a:p>
          <a:p>
            <a:r>
              <a:t>讓案件交接有前情可查。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本頁說明：整理成局處</a:t>
            </a:r>
          </a:p>
          <a:p>
            <a:r>
              <a:t>能接續處理的文件。帶入覆核摘要、</a:t>
            </a:r>
          </a:p>
          <a:p>
            <a:r>
              <a:t>後續行動與承辦人簽名。</a:t>
            </a:r>
          </a:p>
          <a:p>
            <a:endParaRPr/>
          </a:p>
          <a:p>
            <a:r>
              <a:t>匯出前確認交付局處、</a:t>
            </a:r>
          </a:p>
          <a:p>
            <a:r>
              <a:t>負責人與處理期限。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本頁說明：不同局處檔案</a:t>
            </a:r>
          </a:p>
          <a:p>
            <a:r>
              <a:t>使用同一個入口。先勾選基本資料、</a:t>
            </a:r>
          </a:p>
          <a:p>
            <a:r>
              <a:t>收費、財務或裁罰等類別。</a:t>
            </a:r>
          </a:p>
          <a:p>
            <a:endParaRPr/>
          </a:p>
          <a:p>
            <a:r>
              <a:t>再上傳檔案，</a:t>
            </a:r>
          </a:p>
          <a:p>
            <a:r>
              <a:t>由 AI 協助整理。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本頁說明：名稱不同</a:t>
            </a:r>
          </a:p>
          <a:p>
            <a:r>
              <a:t>仍可整理成一致欄位。例如「機構名稱」</a:t>
            </a:r>
          </a:p>
          <a:p>
            <a:r>
              <a:t>對應到「園所名稱」。</a:t>
            </a:r>
          </a:p>
          <a:p>
            <a:endParaRPr/>
          </a:p>
          <a:p>
            <a:r>
              <a:t>可調整對應、取消勾選，</a:t>
            </a:r>
          </a:p>
          <a:p>
            <a:r>
              <a:t>只匯入需要的欄位。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本頁說明：看清楚</a:t>
            </a:r>
          </a:p>
          <a:p>
            <a:r>
              <a:t>新增還是更新。預覽整理後的內容，</a:t>
            </a:r>
          </a:p>
          <a:p>
            <a:r>
              <a:t>修正或取消個別資料列。</a:t>
            </a:r>
          </a:p>
          <a:p>
            <a:endParaRPr/>
          </a:p>
          <a:p>
            <a:r>
              <a:t>確認後保留匯入紀錄，</a:t>
            </a:r>
          </a:p>
          <a:p>
            <a:r>
              <a:t>便於追溯檔案來源。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本頁說明：政策與資料改變</a:t>
            </a:r>
          </a:p>
          <a:p>
            <a:r>
              <a:t>仍可維護判斷方式。以白話編輯條件，</a:t>
            </a:r>
          </a:p>
          <a:p>
            <a:r>
              <a:t>設定影響程度與啟停狀態。</a:t>
            </a:r>
          </a:p>
          <a:p>
            <a:endParaRPr/>
          </a:p>
          <a:p>
            <a:r>
              <a:t>保留修改版本，</a:t>
            </a:r>
          </a:p>
          <a:p>
            <a:r>
              <a:t>知道當時採用什麼規則。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本頁說明：整理事件：辨識相關園所，</a:t>
            </a:r>
          </a:p>
          <a:p>
            <a:r>
              <a:t>合併重複討論與報導。；標示可信度：保留來源、日期</a:t>
            </a:r>
          </a:p>
          <a:p>
            <a:r>
              <a:t>與未查證的標示。；提供查核線索：協助安排確認事項，</a:t>
            </a:r>
          </a:p>
          <a:p>
            <a:r>
              <a:t>由人員回到正式事證查核。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本頁說明：需要說明時</a:t>
            </a:r>
          </a:p>
          <a:p>
            <a:r>
              <a:t>點一下「！」。在功能旁提供</a:t>
            </a:r>
          </a:p>
          <a:p>
            <a:r>
              <a:t>用途與操作步驟。</a:t>
            </a:r>
          </a:p>
          <a:p>
            <a:endParaRPr/>
          </a:p>
          <a:p>
            <a:r>
              <a:t>看完關閉提示，</a:t>
            </a:r>
          </a:p>
          <a:p>
            <a:r>
              <a:t>接著完成原本的工作。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本頁說明：功能 / 目前 Demo / 正式建置需求</a:t>
            </a:r>
          </a:p>
          <a:p>
            <a:r>
              <a:t>風險與依據 / 模擬分數、來源與原因 / 串接資料、驗證評分規則</a:t>
            </a:r>
          </a:p>
          <a:p>
            <a:r>
              <a:t>人工覆核與案件 / 可操作表單與待辦 / 帳號權限、共用資料庫</a:t>
            </a:r>
          </a:p>
          <a:p>
            <a:r>
              <a:t>AI 資料整理 / 固定範例與欄位對應 / 解析檔案、OCR 與 AI 辨識</a:t>
            </a:r>
          </a:p>
          <a:p>
            <a:r>
              <a:t>簽名與 PDF / 示範簽名、文件預覽 / 簽名管理、實際 PDF 產生</a:t>
            </a:r>
          </a:p>
          <a:p>
            <a:r>
              <a:t>輿情事件分析 / 構面與概念展示 / 事件分類、去重與查證流程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本頁說明：核心查核：總覽、清單、詳情</a:t>
            </a:r>
          </a:p>
          <a:p>
            <a:r>
              <a:t>評分依據與查核建議；處理與交辦：覆核、案件、行動</a:t>
            </a:r>
          </a:p>
          <a:p>
            <a:r>
              <a:t>承辦簽名與 PDF；資料深化：正式資料匯入</a:t>
            </a:r>
          </a:p>
          <a:p>
            <a:r>
              <a:t>異常偵測與輿情分析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本頁說明：找得到：能否找到需優先關注的園所？</a:t>
            </a:r>
          </a:p>
          <a:p>
            <a:r>
              <a:t>記錄查找與整理所需時間。；看得懂：能否說出風險原因與來源？</a:t>
            </a:r>
          </a:p>
          <a:p>
            <a:r>
              <a:t>記錄覆核時遇到的疑問。；接得下去：能否完成後續行動與交辦？</a:t>
            </a:r>
          </a:p>
          <a:p>
            <a:r>
              <a:t>追蹤未完成事項與回覆情形。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本頁說明：提案目標為協助主管機關安排查核優先順序及後續處理。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本頁說明：完整保留使用者提供的原圖。P0為黑客松必做，P1為時間允許再做。原圖案件管理為P1，目前已提前展示操作流程。</a:t>
            </a:r>
          </a:p>
          <a:p>
            <a:r>
              <a:t>資料來源：/Users/mobinice/Documents/ChatGPT/黑客松/preview.html；/Users/mobinice/Documents/ChatGPT/黑客松/教保風險平台_MVP功能爆炸圖.png。</a:t>
            </a:r>
          </a:p>
          <a:p>
            <a:r>
              <a:t>提案依目前展示版整理。畫面與園所案例使用模擬資料，AI 辨識、PDF 匯出及簽名為功能展示。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0C55115-BCA2-4951-BA82-A6DB9ADD81E6}"/>
              </a:ext>
            </a:extLst>
          </p:cNvPr>
          <p:cNvSpPr>
            <a:spLocks noGrp="1"/>
          </p:cNvSpPr>
          <p:nvPr/>
        </p:nvSpPr>
        <p:spPr>
          <a:xfrm>
            <a:off x="1181100" y="32585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 dirty="0" err="1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提案簡報</a:t>
            </a:r>
            <a:endParaRPr sz="1125" b="0" dirty="0">
              <a:solidFill>
                <a:srgbClr val="A68A64"/>
              </a:solidFill>
              <a:latin typeface="Heiti TC"/>
              <a:ea typeface="Heiti TC"/>
              <a:cs typeface="Heiti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DE48C1-71E0-4301-8E53-CD4DC179393E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CC4226-DE6A-465D-9719-7C1766ADE25F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022519-C61B-4776-94B5-E53B18CA0FA8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2026 年 9 月　功能提案與操作展示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47817F-CB70-4F9D-AC1B-ED3B6EEBBDF0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DEBDEC-A8C5-49A0-9D53-D030B0A0C998}"/>
              </a:ext>
            </a:extLst>
          </p:cNvPr>
          <p:cNvSpPr>
            <a:spLocks noGrp="1"/>
          </p:cNvSpPr>
          <p:nvPr/>
        </p:nvSpPr>
        <p:spPr>
          <a:xfrm>
            <a:off x="3552825" y="2271338"/>
            <a:ext cx="504825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55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4000" b="0" dirty="0" err="1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幼安雷達</a:t>
            </a:r>
            <a:endParaRPr sz="4000" b="0" dirty="0">
              <a:solidFill>
                <a:srgbClr val="3A3A3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70ACA1-BCE0-4C40-BE89-13EC78F6DBCF}"/>
              </a:ext>
            </a:extLst>
          </p:cNvPr>
          <p:cNvSpPr>
            <a:spLocks noGrp="1"/>
          </p:cNvSpPr>
          <p:nvPr/>
        </p:nvSpPr>
        <p:spPr>
          <a:xfrm>
            <a:off x="3626883" y="3029323"/>
            <a:ext cx="5143500" cy="1190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000" b="0" dirty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</a:t>
            </a:r>
            <a:r>
              <a:rPr sz="2000" b="0" dirty="0" err="1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教保機構</a:t>
            </a:r>
            <a:endParaRPr sz="2000" b="0" dirty="0">
              <a:solidFill>
                <a:srgbClr val="3A3A3A"/>
              </a:solidFill>
              <a:latin typeface="Songti SC"/>
              <a:ea typeface="Songti SC"/>
              <a:cs typeface="Songti SC"/>
            </a:endParaRPr>
          </a:p>
          <a:p>
            <a:pPr>
              <a:defRPr sz="30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000" b="0" dirty="0" err="1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風險預警平台</a:t>
            </a:r>
            <a:endParaRPr sz="2000" b="0" dirty="0">
              <a:solidFill>
                <a:srgbClr val="3A3A3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C01BA5-DEC4-4D92-B2E8-5B9D3A4A23B9}"/>
              </a:ext>
            </a:extLst>
          </p:cNvPr>
          <p:cNvSpPr>
            <a:spLocks noGrp="1"/>
          </p:cNvSpPr>
          <p:nvPr/>
        </p:nvSpPr>
        <p:spPr>
          <a:xfrm>
            <a:off x="1181100" y="5007170"/>
            <a:ext cx="5429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lang="zh-TW" altLang="en-US" sz="1875" b="0" dirty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協助主管機關排出查核優先順序</a:t>
            </a:r>
            <a:endParaRPr sz="1875" b="0" dirty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0350" y="1700328"/>
            <a:ext cx="4743450" cy="368594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8BC43EA-7B9C-CE85-FA09-68141E689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65" y="1296149"/>
            <a:ext cx="2722652" cy="272265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4620133-E717-0FCE-81B5-F442A8FBF82E}"/>
              </a:ext>
            </a:extLst>
          </p:cNvPr>
          <p:cNvSpPr txBox="1"/>
          <p:nvPr/>
        </p:nvSpPr>
        <p:spPr>
          <a:xfrm>
            <a:off x="1036833" y="4180726"/>
            <a:ext cx="24683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dirty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隊伍</a:t>
            </a:r>
            <a:r>
              <a:rPr lang="en-US" altLang="zh-TW" sz="2000" b="0" dirty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:Bug</a:t>
            </a:r>
            <a:r>
              <a:rPr lang="zh-TW" altLang="en-US" sz="2000" b="0" dirty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不過夜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069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3F878DD-CC8C-4E3D-8664-86F60974D2E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提案說明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4A0250-99F5-4772-A505-63828EEDC40F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主管機關每天要做的判斷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B8E4D3-B5B4-43F9-B3CD-68F98EEA44B7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257FDB-81DC-4A42-92CD-7409287C968D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幼安雷達　教保機構風險預警平台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3D2578-DA5E-420B-A6F5-85913F2E53DC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537F28-A45B-476C-9F89-C57FC6F988AE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1EC188-B858-4D9C-BF1A-6155BCF66C1E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先關注誰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8F9A7B-0557-46FA-9931-52B2DE217EBB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哪些園所值得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優先投入查核人力？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746DBA-909B-491F-B78D-B3B2EE65F268}"/>
              </a:ext>
            </a:extLst>
          </p:cNvPr>
          <p:cNvSpPr>
            <a:spLocks noGrp="1"/>
          </p:cNvSpPr>
          <p:nvPr/>
        </p:nvSpPr>
        <p:spPr>
          <a:xfrm>
            <a:off x="43434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707999-0EDD-406C-B45C-3F6F38F4E1F3}"/>
              </a:ext>
            </a:extLst>
          </p:cNvPr>
          <p:cNvSpPr>
            <a:spLocks noGrp="1"/>
          </p:cNvSpPr>
          <p:nvPr/>
        </p:nvSpPr>
        <p:spPr>
          <a:xfrm>
            <a:off x="43434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為什麼要查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A7595F-4691-4365-90B8-F5219E640459}"/>
              </a:ext>
            </a:extLst>
          </p:cNvPr>
          <p:cNvSpPr>
            <a:spLocks noGrp="1"/>
          </p:cNvSpPr>
          <p:nvPr/>
        </p:nvSpPr>
        <p:spPr>
          <a:xfrm>
            <a:off x="43434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風險來自哪份資料？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判斷依據是否清楚？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DB9FFC-8747-409C-8016-DF3D183C6683}"/>
              </a:ext>
            </a:extLst>
          </p:cNvPr>
          <p:cNvSpPr>
            <a:spLocks noGrp="1"/>
          </p:cNvSpPr>
          <p:nvPr/>
        </p:nvSpPr>
        <p:spPr>
          <a:xfrm>
            <a:off x="78486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39A03C-F299-4018-A0E6-3650D5D7AE9D}"/>
              </a:ext>
            </a:extLst>
          </p:cNvPr>
          <p:cNvSpPr>
            <a:spLocks noGrp="1"/>
          </p:cNvSpPr>
          <p:nvPr/>
        </p:nvSpPr>
        <p:spPr>
          <a:xfrm>
            <a:off x="78486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接下來怎麼做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1C96A0-1B07-4A65-B8A1-0C1FEEB3B679}"/>
              </a:ext>
            </a:extLst>
          </p:cNvPr>
          <p:cNvSpPr>
            <a:spLocks noGrp="1"/>
          </p:cNvSpPr>
          <p:nvPr/>
        </p:nvSpPr>
        <p:spPr>
          <a:xfrm>
            <a:off x="78486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由誰追查、何時完成，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結果如何留下紀錄？</a:t>
            </a:r>
          </a:p>
        </p:txBody>
      </p:sp>
    </p:spTree>
    <p:extLst>
      <p:ext uri="{BB962C8B-B14F-4D97-AF65-F5344CB8AC3E}">
        <p14:creationId xmlns:p14="http://schemas.microsoft.com/office/powerpoint/2010/main" val="324198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90653CD-D558-49E6-B87B-2094E4391834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問題背景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FDD82B-2B19-46DD-878D-BFABBF977A97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分散的資料，增加查核前的整理工作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FE4693-C397-4A70-8BE7-ED1F1235E977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C93A03-1FD8-4124-953F-262CF242EB32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幼安雷達　教保機構風險預警平台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CAF7CA-A20A-4118-B490-482E5A8CF35B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E25F22-662F-460B-A4AE-3CD4FAED5A8E}"/>
              </a:ext>
            </a:extLst>
          </p:cNvPr>
          <p:cNvSpPr>
            <a:spLocks noGrp="1"/>
          </p:cNvSpPr>
          <p:nvPr/>
        </p:nvSpPr>
        <p:spPr>
          <a:xfrm>
            <a:off x="838200" y="2105025"/>
            <a:ext cx="3619500" cy="1571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一間園所</a:t>
            </a:r>
          </a:p>
          <a:p>
            <a:pPr>
              <a:def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40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多份資料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694682-CAB9-42EB-8CAA-7FCEB08DF69B}"/>
              </a:ext>
            </a:extLst>
          </p:cNvPr>
          <p:cNvSpPr>
            <a:spLocks noGrp="1"/>
          </p:cNvSpPr>
          <p:nvPr/>
        </p:nvSpPr>
        <p:spPr>
          <a:xfrm>
            <a:off x="838200" y="4276725"/>
            <a:ext cx="40005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承辦人需要先找齊資料，</a:t>
            </a:r>
          </a:p>
          <a:p>
            <a:pPr>
              <a:defRPr sz="187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才能比較異常與安排查核。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97899A-78F4-4891-BF8B-DAC0349A8C89}"/>
              </a:ext>
            </a:extLst>
          </p:cNvPr>
          <p:cNvSpPr>
            <a:spLocks noGrp="1"/>
          </p:cNvSpPr>
          <p:nvPr/>
        </p:nvSpPr>
        <p:spPr>
          <a:xfrm>
            <a:off x="5791200" y="1971675"/>
            <a:ext cx="5429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基本資料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C1073C-CB01-4167-B0F1-681A5C50DFD3}"/>
              </a:ext>
            </a:extLst>
          </p:cNvPr>
          <p:cNvSpPr>
            <a:spLocks noGrp="1"/>
          </p:cNvSpPr>
          <p:nvPr/>
        </p:nvSpPr>
        <p:spPr>
          <a:xfrm>
            <a:off x="5791200" y="2371725"/>
            <a:ext cx="54292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名稱、地址、招生規模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DF967D-812F-4CB9-A60B-D9154AD2327E}"/>
              </a:ext>
            </a:extLst>
          </p:cNvPr>
          <p:cNvSpPr>
            <a:spLocks noGrp="1"/>
          </p:cNvSpPr>
          <p:nvPr/>
        </p:nvSpPr>
        <p:spPr>
          <a:xfrm>
            <a:off x="5791200" y="2771775"/>
            <a:ext cx="542925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ADCBBA-D3DC-4AC4-BE57-2ED1CBB85E3E}"/>
              </a:ext>
            </a:extLst>
          </p:cNvPr>
          <p:cNvSpPr>
            <a:spLocks noGrp="1"/>
          </p:cNvSpPr>
          <p:nvPr/>
        </p:nvSpPr>
        <p:spPr>
          <a:xfrm>
            <a:off x="5791200" y="2905125"/>
            <a:ext cx="5429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裁罰與評鑑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89E3B5-3D6D-42BD-89A5-2809C94A499A}"/>
              </a:ext>
            </a:extLst>
          </p:cNvPr>
          <p:cNvSpPr>
            <a:spLocks noGrp="1"/>
          </p:cNvSpPr>
          <p:nvPr/>
        </p:nvSpPr>
        <p:spPr>
          <a:xfrm>
            <a:off x="5791200" y="3305175"/>
            <a:ext cx="54292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缺失、改善與追蹤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B85DBC-9879-4A0A-BC03-87D7CFE9AADB}"/>
              </a:ext>
            </a:extLst>
          </p:cNvPr>
          <p:cNvSpPr>
            <a:spLocks noGrp="1"/>
          </p:cNvSpPr>
          <p:nvPr/>
        </p:nvSpPr>
        <p:spPr>
          <a:xfrm>
            <a:off x="5791200" y="3705225"/>
            <a:ext cx="542925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34BA83-4B7A-4B75-969B-F2B4242C2CFB}"/>
              </a:ext>
            </a:extLst>
          </p:cNvPr>
          <p:cNvSpPr>
            <a:spLocks noGrp="1"/>
          </p:cNvSpPr>
          <p:nvPr/>
        </p:nvSpPr>
        <p:spPr>
          <a:xfrm>
            <a:off x="5791200" y="3838575"/>
            <a:ext cx="5429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收費與財務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ABB974-4405-41B9-8049-C49A287D064C}"/>
              </a:ext>
            </a:extLst>
          </p:cNvPr>
          <p:cNvSpPr>
            <a:spLocks noGrp="1"/>
          </p:cNvSpPr>
          <p:nvPr/>
        </p:nvSpPr>
        <p:spPr>
          <a:xfrm>
            <a:off x="5791200" y="4238625"/>
            <a:ext cx="54292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收入、支出與年度差異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0A8D15-EEC6-4518-932F-BBB0A2F0E85B}"/>
              </a:ext>
            </a:extLst>
          </p:cNvPr>
          <p:cNvSpPr>
            <a:spLocks noGrp="1"/>
          </p:cNvSpPr>
          <p:nvPr/>
        </p:nvSpPr>
        <p:spPr>
          <a:xfrm>
            <a:off x="5791200" y="4638675"/>
            <a:ext cx="542925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6D3218-AF31-45D2-B371-5E27C4207FB2}"/>
              </a:ext>
            </a:extLst>
          </p:cNvPr>
          <p:cNvSpPr>
            <a:spLocks noGrp="1"/>
          </p:cNvSpPr>
          <p:nvPr/>
        </p:nvSpPr>
        <p:spPr>
          <a:xfrm>
            <a:off x="5791200" y="4772025"/>
            <a:ext cx="5429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公開輿情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DF5CD9-C923-49C5-A5F5-CC790CCB04EC}"/>
              </a:ext>
            </a:extLst>
          </p:cNvPr>
          <p:cNvSpPr>
            <a:spLocks noGrp="1"/>
          </p:cNvSpPr>
          <p:nvPr/>
        </p:nvSpPr>
        <p:spPr>
          <a:xfrm>
            <a:off x="5791200" y="5172075"/>
            <a:ext cx="54292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相關事件與待查證線索</a:t>
            </a:r>
          </a:p>
        </p:txBody>
      </p:sp>
    </p:spTree>
    <p:extLst>
      <p:ext uri="{BB962C8B-B14F-4D97-AF65-F5344CB8AC3E}">
        <p14:creationId xmlns:p14="http://schemas.microsoft.com/office/powerpoint/2010/main" val="115480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369AB80-B2CF-40B8-9405-8F1C6D5277E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方案全貌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E85C65-6162-42CD-B1C1-22B7FCD7C8A2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平台把資料整理接到後續查核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0E1DAD-AEE2-4D17-AEC5-3115AA3915DE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6A94AE-CBC2-41ED-A645-6ACB2A043C1E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本次以互動 Demo 展示流程，正式服務仍需後續建置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612245-9EBA-445E-A151-1EFB11444B48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086E38-B76C-48F0-BC76-0ED15D705281}"/>
              </a:ext>
            </a:extLst>
          </p:cNvPr>
          <p:cNvSpPr>
            <a:spLocks noGrp="1"/>
          </p:cNvSpPr>
          <p:nvPr/>
        </p:nvSpPr>
        <p:spPr>
          <a:xfrm>
            <a:off x="838200" y="2733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CA5D31-F63F-44E2-9E04-1EC60DE47179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193167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D17390-C01D-4AD9-A964-9EC86DC34C30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191262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整理資料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21872A-4F1F-42AE-804B-B3EB19BB2299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191262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選擇類別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確認欄位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AA97E4-2466-4A9F-A798-4ABC2AB92D6B}"/>
              </a:ext>
            </a:extLst>
          </p:cNvPr>
          <p:cNvSpPr>
            <a:spLocks noGrp="1"/>
          </p:cNvSpPr>
          <p:nvPr/>
        </p:nvSpPr>
        <p:spPr>
          <a:xfrm>
            <a:off x="2941320" y="1962150"/>
            <a:ext cx="193167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4BED28-AB2B-498C-89CE-F010858B2652}"/>
              </a:ext>
            </a:extLst>
          </p:cNvPr>
          <p:cNvSpPr>
            <a:spLocks noGrp="1"/>
          </p:cNvSpPr>
          <p:nvPr/>
        </p:nvSpPr>
        <p:spPr>
          <a:xfrm>
            <a:off x="2941320" y="3124200"/>
            <a:ext cx="191262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辨識風險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879A4F-A503-4BC1-9D6E-278F5A06696A}"/>
              </a:ext>
            </a:extLst>
          </p:cNvPr>
          <p:cNvSpPr>
            <a:spLocks noGrp="1"/>
          </p:cNvSpPr>
          <p:nvPr/>
        </p:nvSpPr>
        <p:spPr>
          <a:xfrm>
            <a:off x="2941320" y="3924300"/>
            <a:ext cx="191262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依規則排序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保留資料來源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401562-5290-41CE-B5D8-F2B2510190D4}"/>
              </a:ext>
            </a:extLst>
          </p:cNvPr>
          <p:cNvSpPr>
            <a:spLocks noGrp="1"/>
          </p:cNvSpPr>
          <p:nvPr/>
        </p:nvSpPr>
        <p:spPr>
          <a:xfrm>
            <a:off x="5044440" y="1962150"/>
            <a:ext cx="193167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A6AF93-F8C7-4139-9C86-74F8A3580547}"/>
              </a:ext>
            </a:extLst>
          </p:cNvPr>
          <p:cNvSpPr>
            <a:spLocks noGrp="1"/>
          </p:cNvSpPr>
          <p:nvPr/>
        </p:nvSpPr>
        <p:spPr>
          <a:xfrm>
            <a:off x="5044440" y="3124200"/>
            <a:ext cx="191262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人工覆核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F47F63-E44D-4CE4-86BF-4BA618B7CAF7}"/>
              </a:ext>
            </a:extLst>
          </p:cNvPr>
          <p:cNvSpPr>
            <a:spLocks noGrp="1"/>
          </p:cNvSpPr>
          <p:nvPr/>
        </p:nvSpPr>
        <p:spPr>
          <a:xfrm>
            <a:off x="5044440" y="3924300"/>
            <a:ext cx="191262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確認依據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記錄判斷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CF7545-972D-4E18-961F-211DC7344AF5}"/>
              </a:ext>
            </a:extLst>
          </p:cNvPr>
          <p:cNvSpPr>
            <a:spLocks noGrp="1"/>
          </p:cNvSpPr>
          <p:nvPr/>
        </p:nvSpPr>
        <p:spPr>
          <a:xfrm>
            <a:off x="7147560" y="1962150"/>
            <a:ext cx="193167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41564E-EE53-4C19-97D9-CB06A4665512}"/>
              </a:ext>
            </a:extLst>
          </p:cNvPr>
          <p:cNvSpPr>
            <a:spLocks noGrp="1"/>
          </p:cNvSpPr>
          <p:nvPr/>
        </p:nvSpPr>
        <p:spPr>
          <a:xfrm>
            <a:off x="7147560" y="3124200"/>
            <a:ext cx="191262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追蹤調查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7FDCFB-F337-436F-9D60-CAFE73E2D621}"/>
              </a:ext>
            </a:extLst>
          </p:cNvPr>
          <p:cNvSpPr>
            <a:spLocks noGrp="1"/>
          </p:cNvSpPr>
          <p:nvPr/>
        </p:nvSpPr>
        <p:spPr>
          <a:xfrm>
            <a:off x="7147560" y="3924300"/>
            <a:ext cx="191262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指定負責人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更新處理結果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7BD174-FF84-4AEE-97DE-F45D35F99C9D}"/>
              </a:ext>
            </a:extLst>
          </p:cNvPr>
          <p:cNvSpPr>
            <a:spLocks noGrp="1"/>
          </p:cNvSpPr>
          <p:nvPr/>
        </p:nvSpPr>
        <p:spPr>
          <a:xfrm>
            <a:off x="9250680" y="1962150"/>
            <a:ext cx="193167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17F185-33E4-4AC6-B8B8-5A0AA1E1FF47}"/>
              </a:ext>
            </a:extLst>
          </p:cNvPr>
          <p:cNvSpPr>
            <a:spLocks noGrp="1"/>
          </p:cNvSpPr>
          <p:nvPr/>
        </p:nvSpPr>
        <p:spPr>
          <a:xfrm>
            <a:off x="9250680" y="3124200"/>
            <a:ext cx="191262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簽名交辦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5BC13D-97B1-4694-A409-AC13E41DD2C7}"/>
              </a:ext>
            </a:extLst>
          </p:cNvPr>
          <p:cNvSpPr>
            <a:spLocks noGrp="1"/>
          </p:cNvSpPr>
          <p:nvPr/>
        </p:nvSpPr>
        <p:spPr>
          <a:xfrm>
            <a:off x="9250680" y="3924300"/>
            <a:ext cx="191262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預覽文件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交付對應局處</a:t>
            </a:r>
          </a:p>
        </p:txBody>
      </p:sp>
    </p:spTree>
    <p:extLst>
      <p:ext uri="{BB962C8B-B14F-4D97-AF65-F5344CB8AC3E}">
        <p14:creationId xmlns:p14="http://schemas.microsoft.com/office/powerpoint/2010/main" val="8844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D4FBE93-5BBD-4CB9-8F44-73CD37D7721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資訊架構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7869AE-AC56-4090-A1B7-7CFBE27DB22C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三個入口，對應承辦人的工作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256642-D8AD-448F-8D80-869519F21E08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26AA81-3625-4B56-9D63-020335690C41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幼安雷達　教保機構風險預警平台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15FB3C-8A8A-412E-A319-FBA4E59104C6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6335" y="1771650"/>
            <a:ext cx="795355" cy="40862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EB8B683-BC38-4837-95E9-977A0F6146F4}"/>
              </a:ext>
            </a:extLst>
          </p:cNvPr>
          <p:cNvSpPr>
            <a:spLocks noGrp="1"/>
          </p:cNvSpPr>
          <p:nvPr/>
        </p:nvSpPr>
        <p:spPr>
          <a:xfrm>
            <a:off x="3209925" y="2162175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風險總覽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0C6ACE-9EA0-47B3-9A91-76A7A172C655}"/>
              </a:ext>
            </a:extLst>
          </p:cNvPr>
          <p:cNvSpPr>
            <a:spLocks noGrp="1"/>
          </p:cNvSpPr>
          <p:nvPr/>
        </p:nvSpPr>
        <p:spPr>
          <a:xfrm>
            <a:off x="3209925" y="26860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找園所、看分數，</a:t>
            </a:r>
          </a:p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再查看原因與依據。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A9258C-586D-4FD0-BD8F-DFB60F194550}"/>
              </a:ext>
            </a:extLst>
          </p:cNvPr>
          <p:cNvSpPr>
            <a:spLocks noGrp="1"/>
          </p:cNvSpPr>
          <p:nvPr/>
        </p:nvSpPr>
        <p:spPr>
          <a:xfrm>
            <a:off x="6067425" y="2162175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稽核管理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E1FC1F-66CD-4319-BD3A-79D90CCAC027}"/>
              </a:ext>
            </a:extLst>
          </p:cNvPr>
          <p:cNvSpPr>
            <a:spLocks noGrp="1"/>
          </p:cNvSpPr>
          <p:nvPr/>
        </p:nvSpPr>
        <p:spPr>
          <a:xfrm>
            <a:off x="6067425" y="26860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接續已覆核案件，</a:t>
            </a:r>
          </a:p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追蹤後續調查與交辦。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179B03-8F63-436A-919A-FF19BEEAFD37}"/>
              </a:ext>
            </a:extLst>
          </p:cNvPr>
          <p:cNvSpPr>
            <a:spLocks noGrp="1"/>
          </p:cNvSpPr>
          <p:nvPr/>
        </p:nvSpPr>
        <p:spPr>
          <a:xfrm>
            <a:off x="8924925" y="21621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資料與規則設定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89539B-9B2B-4F53-B9C9-28D6E9203CEB}"/>
              </a:ext>
            </a:extLst>
          </p:cNvPr>
          <p:cNvSpPr>
            <a:spLocks noGrp="1"/>
          </p:cNvSpPr>
          <p:nvPr/>
        </p:nvSpPr>
        <p:spPr>
          <a:xfrm>
            <a:off x="8924925" y="2686050"/>
            <a:ext cx="2428875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整理匯入資料，</a:t>
            </a:r>
          </a:p>
          <a:p>
            <a:pPr>
              <a:defRPr sz="1725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維護欄位、規則與來源。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3ED763-02A8-4355-9D59-C134A963EAC4}"/>
              </a:ext>
            </a:extLst>
          </p:cNvPr>
          <p:cNvSpPr>
            <a:spLocks noGrp="1"/>
          </p:cNvSpPr>
          <p:nvPr/>
        </p:nvSpPr>
        <p:spPr>
          <a:xfrm>
            <a:off x="3209925" y="5276850"/>
            <a:ext cx="8096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園所詳情與 AI 建議放在同一條查核流程中</a:t>
            </a:r>
          </a:p>
        </p:txBody>
      </p:sp>
    </p:spTree>
    <p:extLst>
      <p:ext uri="{BB962C8B-B14F-4D97-AF65-F5344CB8AC3E}">
        <p14:creationId xmlns:p14="http://schemas.microsoft.com/office/powerpoint/2010/main" val="205104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FF161FC-8A46-4BE2-8106-2F944A5F0D5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功能藍圖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8C8859-C05D-4377-8CD0-875132F7C61B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功能爆炸圖中的八個模組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00DD2C-096C-4E50-B19F-F5E69DAB99ED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E001DA-D9BC-4F9B-802F-06522E02F494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依使用者提供的 MVP 功能爆炸圖整理，完整原圖見附錄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4F3C29-935A-4D55-B5BB-F32E97299E1D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E3DC43-8B07-4C52-A8D6-F1022DDE2159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轄區風險總覽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C36482-D2AC-43C4-B220-9507C21EE672}"/>
              </a:ext>
            </a:extLst>
          </p:cNvPr>
          <p:cNvSpPr>
            <a:spLocks noGrp="1"/>
          </p:cNvSpPr>
          <p:nvPr/>
        </p:nvSpPr>
        <p:spPr>
          <a:xfrm>
            <a:off x="838200" y="2371725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掌握整體狀況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E97FF1-D0B0-4966-ADE6-B3A55496B088}"/>
              </a:ext>
            </a:extLst>
          </p:cNvPr>
          <p:cNvSpPr>
            <a:spLocks noGrp="1"/>
          </p:cNvSpPr>
          <p:nvPr/>
        </p:nvSpPr>
        <p:spPr>
          <a:xfrm>
            <a:off x="838200" y="2905125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園所風險清單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920E0F-AE68-49AD-8BA5-CEA431191B91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找到需優先關注的園所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72090D-4610-4B07-9AF1-0264A37C2676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資料整合與異常偵測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D58D5A-5D13-41C5-8B14-80802993D567}"/>
              </a:ext>
            </a:extLst>
          </p:cNvPr>
          <p:cNvSpPr>
            <a:spLocks noGrp="1"/>
          </p:cNvSpPr>
          <p:nvPr/>
        </p:nvSpPr>
        <p:spPr>
          <a:xfrm>
            <a:off x="838200" y="4295775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比對不同資料來源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85B0CE-A0B8-44E3-89E0-35DE8CC93AF5}"/>
              </a:ext>
            </a:extLst>
          </p:cNvPr>
          <p:cNvSpPr>
            <a:spLocks noGrp="1"/>
          </p:cNvSpPr>
          <p:nvPr/>
        </p:nvSpPr>
        <p:spPr>
          <a:xfrm>
            <a:off x="838200" y="4829175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可解釋風險評分引擎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456735-99A9-4CB1-A04C-78AC0CBC2E96}"/>
              </a:ext>
            </a:extLst>
          </p:cNvPr>
          <p:cNvSpPr>
            <a:spLocks noGrp="1"/>
          </p:cNvSpPr>
          <p:nvPr/>
        </p:nvSpPr>
        <p:spPr>
          <a:xfrm>
            <a:off x="838200" y="525780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產生可追溯的分數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ACA33C-CECE-4D3C-A240-163CBE7DF103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園所 360° 風險詳情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46191D-7BC7-422D-96A0-EA3238421D6A}"/>
              </a:ext>
            </a:extLst>
          </p:cNvPr>
          <p:cNvSpPr>
            <a:spLocks noGrp="1"/>
          </p:cNvSpPr>
          <p:nvPr/>
        </p:nvSpPr>
        <p:spPr>
          <a:xfrm>
            <a:off x="6305550" y="2371725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集中查看園所與異常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09485F-D8BF-4536-BD6C-0DDB37960602}"/>
              </a:ext>
            </a:extLst>
          </p:cNvPr>
          <p:cNvSpPr>
            <a:spLocks noGrp="1"/>
          </p:cNvSpPr>
          <p:nvPr/>
        </p:nvSpPr>
        <p:spPr>
          <a:xfrm>
            <a:off x="6305550" y="2905125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輿情事件分析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8DC906-6FCF-4EC7-8490-E79D383BEC34}"/>
              </a:ext>
            </a:extLst>
          </p:cNvPr>
          <p:cNvSpPr>
            <a:spLocks noGrp="1"/>
          </p:cNvSpPr>
          <p:nvPr/>
        </p:nvSpPr>
        <p:spPr>
          <a:xfrm>
            <a:off x="6305550" y="333375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整理未查證的公開線索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625731-B80E-4DD7-A64F-B1FFD1CBABFF}"/>
              </a:ext>
            </a:extLst>
          </p:cNvPr>
          <p:cNvSpPr>
            <a:spLocks noGrp="1"/>
          </p:cNvSpPr>
          <p:nvPr/>
        </p:nvSpPr>
        <p:spPr>
          <a:xfrm>
            <a:off x="6305550" y="38671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查核摘要與建議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BCA595-9C87-4701-8FC0-D922067BAAA4}"/>
              </a:ext>
            </a:extLst>
          </p:cNvPr>
          <p:cNvSpPr>
            <a:spLocks noGrp="1"/>
          </p:cNvSpPr>
          <p:nvPr/>
        </p:nvSpPr>
        <p:spPr>
          <a:xfrm>
            <a:off x="6305550" y="4295775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把原因轉成查核項目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6C4540-002C-4631-9EDE-5C533486C4FF}"/>
              </a:ext>
            </a:extLst>
          </p:cNvPr>
          <p:cNvSpPr>
            <a:spLocks noGrp="1"/>
          </p:cNvSpPr>
          <p:nvPr/>
        </p:nvSpPr>
        <p:spPr>
          <a:xfrm>
            <a:off x="6305550" y="4829175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查核案件管理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FE69D5-44B0-4787-B27E-D52FE80B9D20}"/>
              </a:ext>
            </a:extLst>
          </p:cNvPr>
          <p:cNvSpPr>
            <a:spLocks noGrp="1"/>
          </p:cNvSpPr>
          <p:nvPr/>
        </p:nvSpPr>
        <p:spPr>
          <a:xfrm>
            <a:off x="6305550" y="525780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接續調查、回填與交辦</a:t>
            </a:r>
          </a:p>
        </p:txBody>
      </p:sp>
    </p:spTree>
    <p:extLst>
      <p:ext uri="{BB962C8B-B14F-4D97-AF65-F5344CB8AC3E}">
        <p14:creationId xmlns:p14="http://schemas.microsoft.com/office/powerpoint/2010/main" val="212982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8DF6683-823E-411C-B5CB-08CBE6E3790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97BBA5-712D-40DB-BDFD-B22312B3A328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風險總覽：先找到需要關注的園所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1A9291-3A8D-49C1-BEB6-7F17ED475E44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F93F5E-318C-44DE-B0C3-502C4F17DDD6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FBAAF5-D953-4747-82C0-2D4AAEAB38C5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05A2FF-662D-4FDC-8FD0-17DCEB85B909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地圖與清單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一起看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2B5332-C78D-46F2-8A3F-0BA7E23C9017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依行政區、風險等級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或園所名稱篩選。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高風險與資料不足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分開呈現。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1828784"/>
            <a:ext cx="6991350" cy="392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60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6143D81-D8EB-4DBE-87B3-ED11B8A4736E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BF0C70-953F-46DD-A27E-8267C68C83BF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案例：幸福幼兒園的 82 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5B5F20-C79B-48DD-B08B-A7D14241B614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C25097-F955-4605-9862-C6BCD5AF0B16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幸福幼兒園為模擬案例，分數不代表違法認定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7D0D54-2A80-493D-B7BA-24DD294C1C0C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3AC38A-2263-4376-9937-1D9A0D439097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先看摘要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再進入詳情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524B1C-0CFB-4276-A382-EFC0E000B645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地圖標記顯示分數。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點一下就能看到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主要原因與資料完整度。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73679" y="1704975"/>
            <a:ext cx="5368892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03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0754835-62B5-413D-9A7A-6916240256B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11BDF2-98A1-4EE8-BF90-BCF8FE761E5E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四個構面，說明分數從哪裡來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45F0F5-8AC3-4418-8612-A8343DB96695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F607B8-4D5F-4318-A758-8B6CBF649A9E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模擬案例的四項分數合計 82；構面上限合計 100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2EE52D-25E3-42B8-9C7B-8FEA7C81AE43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526EDE-2AA8-4F04-B99B-357A08EDD4D2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總分 82 分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可以拆開看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5BBEE0-3055-4E06-964C-94D65790DBDA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法遵 36／40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財務 27／35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資料一致性 12／15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輿情 7／10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2534558"/>
            <a:ext cx="6991350" cy="251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8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25FD608-8992-4181-868D-408B3CD703BD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D23F25-9F84-4866-9050-324EE02F7224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每個異常都有判斷依據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EF1F5E-E97D-4140-A2B0-9EFE95095822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5F7658-FDCD-40A5-81DB-813F65E6DC3E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6375C7-2693-461A-8167-7244CD854F40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1C3596-DC41-4709-841F-39C107E10668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承辦人看得懂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也查得到來源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9A3BE2-6FD4-472A-A862-4AB0FF0DEE4F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呈現資料來源、觀察值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以及判斷規則。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用白話說明影響，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保留人工確認空間。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82411" y="1704975"/>
            <a:ext cx="3351428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7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5D55FA9-1F90-4E80-AB5C-7456CAD67EC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判斷示例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9BA348-6F96-4170-8C85-1381ABCCE694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財務異常：先看差異，再查原因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74184-5E12-4CD8-9B99-ACD5D889071A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CED208-5243-43EC-9707-ED610F930761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以下均為 Demo 模擬資料，差異只代表需要確認的線索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726EBC-3EF6-4033-A4B4-74909E9F9877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E7C799-7A33-4E96-9180-28591B5AB1C7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同類園所比較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AA3171-C111-4A65-A0B5-F53FB7EFA730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146,000 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955736-DE6D-43D7-9316-5FE5D65A03FE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本園每生人事成本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1F19AD-8F8D-4CAF-9A3F-655A6695DC53}"/>
              </a:ext>
            </a:extLst>
          </p:cNvPr>
          <p:cNvSpPr>
            <a:spLocks noGrp="1"/>
          </p:cNvSpPr>
          <p:nvPr/>
        </p:nvSpPr>
        <p:spPr>
          <a:xfrm>
            <a:off x="838200" y="4314825"/>
            <a:ext cx="48577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同類園所多數為</a:t>
            </a:r>
          </a:p>
          <a:p>
            <a:pPr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72,000～98,000 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B18B67-92F1-42D4-81A0-98E2D3641E02}"/>
              </a:ext>
            </a:extLst>
          </p:cNvPr>
          <p:cNvSpPr>
            <a:spLocks noGrp="1"/>
          </p:cNvSpPr>
          <p:nvPr/>
        </p:nvSpPr>
        <p:spPr>
          <a:xfrm>
            <a:off x="6572250" y="1924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年度變化比較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B15308-B294-4F8E-9847-76E7A852F249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47815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9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約增加 40%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968E22-C87C-4E28-BB3A-4D9D3C8ECF1B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人事費由 1,043 萬至 1,460 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4E2686-D872-41AE-B187-C81921F8C575}"/>
              </a:ext>
            </a:extLst>
          </p:cNvPr>
          <p:cNvSpPr>
            <a:spLocks noGrp="1"/>
          </p:cNvSpPr>
          <p:nvPr/>
        </p:nvSpPr>
        <p:spPr>
          <a:xfrm>
            <a:off x="6572250" y="43148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同期學生數約增加 5%</a:t>
            </a:r>
          </a:p>
          <a:p>
            <a:pPr>
              <a:defRPr sz="2100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需要釐清支出成長原因</a:t>
            </a:r>
          </a:p>
        </p:txBody>
      </p:sp>
    </p:spTree>
    <p:extLst>
      <p:ext uri="{BB962C8B-B14F-4D97-AF65-F5344CB8AC3E}">
        <p14:creationId xmlns:p14="http://schemas.microsoft.com/office/powerpoint/2010/main" val="206654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B0B594D-74A5-4AC0-B7F6-A2D3920D0FA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判斷示例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4954B5-10CE-4EA2-BFA7-F3FFD6738954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收入差異，轉成具體的查核問題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0AF486-BBA9-49E1-AC36-AAFEF96CA116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79B5E2-2B60-4C32-967A-5F84A480FAF2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模擬資料：差額 320 萬元，約為推估收入的 53%，尚需確認收入來源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EA6EC9-139E-4984-9564-6E2CEC9028D7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4C10CE-9E25-49DB-BF38-11B4BA6FB67F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43815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600 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1866F9-8B19-44D6-B40D-6FAF3E94CA49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9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依收費與招生人數推估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65C1F4-88C6-426F-BA04-F9B53E337E24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0">
                <a:solidFill>
                  <a:srgbClr val="3A3A3A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3A3A3A"/>
                </a:solidFill>
                <a:latin typeface="Heiti TC"/>
                <a:ea typeface="Heiti TC"/>
                <a:cs typeface="Heiti TC"/>
              </a:rPr>
              <a:t>每月 5,000 元 × 100 人 × 12 個月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D2AA12-E423-4E7A-B0D7-7A7A264F8FEF}"/>
              </a:ext>
            </a:extLst>
          </p:cNvPr>
          <p:cNvSpPr>
            <a:spLocks noGrp="1"/>
          </p:cNvSpPr>
          <p:nvPr/>
        </p:nvSpPr>
        <p:spPr>
          <a:xfrm>
            <a:off x="6972300" y="2047875"/>
            <a:ext cx="43815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57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920 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3E20CE-D8E3-41D6-A334-FC7714DBDF7F}"/>
              </a:ext>
            </a:extLst>
          </p:cNvPr>
          <p:cNvSpPr>
            <a:spLocks noGrp="1"/>
          </p:cNvSpPr>
          <p:nvPr/>
        </p:nvSpPr>
        <p:spPr>
          <a:xfrm>
            <a:off x="6972300" y="3143250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9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財務資料中的年度收入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EC599E-D62A-4DCC-908A-91FE938E8971}"/>
              </a:ext>
            </a:extLst>
          </p:cNvPr>
          <p:cNvSpPr>
            <a:spLocks noGrp="1"/>
          </p:cNvSpPr>
          <p:nvPr/>
        </p:nvSpPr>
        <p:spPr>
          <a:xfrm>
            <a:off x="838200" y="46767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A91DE5-DB24-438F-9247-6A0C089FCCDC}"/>
              </a:ext>
            </a:extLst>
          </p:cNvPr>
          <p:cNvSpPr>
            <a:spLocks noGrp="1"/>
          </p:cNvSpPr>
          <p:nvPr/>
        </p:nvSpPr>
        <p:spPr>
          <a:xfrm>
            <a:off x="838200" y="5133975"/>
            <a:ext cx="105156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下一步：確認延托費、代辦費、補助或其他收入</a:t>
            </a:r>
          </a:p>
        </p:txBody>
      </p:sp>
    </p:spTree>
    <p:extLst>
      <p:ext uri="{BB962C8B-B14F-4D97-AF65-F5344CB8AC3E}">
        <p14:creationId xmlns:p14="http://schemas.microsoft.com/office/powerpoint/2010/main" val="164306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694B0AE-2941-4F21-BF93-779C32964084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B9E6FF-44DD-4E21-B151-BF76BA8176F6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資料不足，需要先補齊資料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66C76B-0902-461E-860F-5A795904192C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1B45ED-2532-4666-B2A7-DEFC07E31C79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星河幼兒園為模擬案例，資料不足與低風險分開標示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FEFB8D-978F-4052-96EA-01C091B6DE21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010F97-C8CC-4C43-8B00-F2444F44DD41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34% 完整度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無法完整評估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706710-DFF6-4C36-AADC-357AFD361B82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缺少資料時，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不把園所標成安全。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先補財務與收費資料，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再進行後續判斷。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18728" y="1704975"/>
            <a:ext cx="5278794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2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CE3A77B-09DB-4FC6-9A4B-EB767C6016F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6A04CE-D095-4B0B-AA21-F0358250C333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建議，協助列出要查的事項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B617B8-DE62-405A-9CBE-449EC590DD12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026746-30A0-4A72-9BBD-D5A70103FE61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目前顯示固定示範建議，尚未呼叫 AI 服務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586A00-8746-4136-BD04-BCA3BBB910CD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6F2AAB-ED7E-4F3C-A83A-6AB9862A9C55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把風險原因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轉成工作清單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20D539-9D09-439C-891E-C5339AA29904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例如核對薪資明細、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確認收費收入來源。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承辦人逐項確認，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保留最終判斷。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91988" y="1704975"/>
            <a:ext cx="5332274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0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F7D302B-3C55-4DB3-A2C8-DBF1E8581A8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DB3DD8-CABA-4B0C-96B9-4286EBA659FD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人工覆核，留下承辦人的判斷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958B77-4B63-4295-9CCF-CFE0283712FD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9B94B8-D7F7-4417-B2DE-1D04E86EEC84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Demo 覆核內容保存在目前瀏覽器，尚無正式帳號權限系統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F7D042-8BE9-424A-B54E-660239FEC0E9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120434-BE8D-40B5-90C3-E10323CA4785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確認後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記錄下一步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950EEC-820F-47B2-926C-50F3171A13A7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設定處理狀態與日期，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填寫備註和後續事項。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儲存後，案件接到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稽核管理。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98154" y="1704975"/>
            <a:ext cx="1919942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0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C7A986C-B9C8-4794-A4ED-AFF949B28DA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14D5C8-EF93-473B-B6B8-2BEAFAD318F2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稽核管理，接住已覆核的案件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5594A0-72AB-4BC7-AA28-8D031EAAD47B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A7D63E-3E06-4CBF-831C-B1B54CE0B6C8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BE9115-B017-46D4-A5E2-B28FD1B2139E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7EC58F-704D-47CB-98B9-691B9986D65E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每件案件都有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待辦與負責人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C2454E-D510-4277-A1DE-59AEF146411C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查看下一步行動、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對應局處與完成期限。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集中追蹤待處理、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調查中與待補件案件。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2429508"/>
            <a:ext cx="6991350" cy="272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6427862-B914-474C-8A9A-41BF184A736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30ED1C-30D2-4263-ABF4-0BB3C86DC787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後續調查，持續更新處理進度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1E3BE0-A48E-4403-BC62-94DD8E35AD11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A8AE30-F2DF-4A6B-BDB4-3026CF080D40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介面畫面為目前 Demo，資料與操作結果均為示範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AC242C-546A-42D2-AF7F-12659CF0C401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FE5BC6-1302-4A90-82DE-4B8A5E8D119D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完成一項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留下處理結果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B3DB0D-86F1-4A9E-963A-82B7131DEC8C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可以新增行動、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指定負責人與期限。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每次更新保留紀錄，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讓案件交接有前情可查。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38676" y="1704975"/>
            <a:ext cx="6038898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54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CD93E74-0073-4100-9193-12EDC11FD81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BE866B-C83A-463B-B0EF-B626ED85F514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含簽名的交辦文件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7CAEBC-2910-43D5-BE2D-DED30C4FEDAD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49529-594E-4774-9A0E-6102B515392C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Demo 使用示範簽名與 PDF 預覽，匯出按鈕僅展示成功提示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6A5A6F-9E13-4A1A-837D-0949CE31FB81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D71193-75C5-4F0F-A1EE-DDB05E9FD8B5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整理成局處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能接續處理的文件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F9C1BF-941F-43D7-83DC-389090E595DA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帶入覆核摘要、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後續行動與承辦人簽名。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匯出前確認交付局處、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負責人與處理期限。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13722" y="1704975"/>
            <a:ext cx="4488807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8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B683AFB-B522-468F-9CC9-EDDFEA1CA00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DF664-E390-4109-BAA2-495D6526A541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資料匯入，先選這次需要的內容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57EC04-2B2F-4425-8F75-DF4EC7F63EC6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D2D19-6726-43EF-BA0B-52F621FB73FC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目前以固定假資料示範，不讀取、不上傳檔案，也未串接 AI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64783F-8D7C-44A1-8126-B1C7895CDDE4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B58EFF-78A5-4BF1-80A5-FB2090A9A9FE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不同局處檔案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使用同一個入口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C058BC-97BB-4C29-8875-B1462242974C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先勾選基本資料、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收費、財務或裁罰等類別。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再上傳檔案，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由 AI 協助整理。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2181974"/>
            <a:ext cx="6991350" cy="321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87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4AEB91C-68E8-414C-A631-CD6DB701EAE0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FF577B-4FCE-4983-841E-B91BDA59CD31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辨識欄位，承辦人確認對應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841F10-4BD0-45FD-B920-94D71BC888F3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6186F9-01AD-4379-8A47-A1C9EE046C17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欄位對應畫面為模擬結果，正式辨識能力需後續建置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DC3D04-4D70-4344-ADB2-4F5ADC222A3A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FD569B-663A-4550-9936-60DD74B3F3D1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名稱不同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仍可整理成一致欄位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A1D561-210A-4FFE-8456-FA37373BFCA5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例如「機構名稱」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對應到「園所名稱」。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可調整對應、取消勾選，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只匯入需要的欄位。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2539039"/>
            <a:ext cx="6991350" cy="250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36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E100CF4-EA2D-4A4A-A34D-8AA2BE96CFF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E86E75-4897-421C-B09D-A3BCBD1DCEDA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匯入前，逐列檢查與修正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8A1D9E-683C-41B1-A295-7542A18489BE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E7BC2C-638F-4B29-9D8B-E13BCF7500F7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此頁為固定假資料的模擬匯入流程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32377A-2B78-45CC-B878-E3D27EF799E8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459C6D-0CDE-48A8-83C8-40C177AAD9C2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看清楚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新增還是更新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959A12-5598-488D-A9FA-43C267E79456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預覽整理後的內容，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修正或取消個別資料列。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確認後保留匯入紀錄，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便於追溯檔案來源。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2263479"/>
            <a:ext cx="6991350" cy="305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92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10A10D1-327B-47E2-9811-C2CE462783BB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5DE825-6C74-4097-941C-ABCCC1F5A39C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規則可調整，版本可追溯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5ABE4F-63AD-4D4F-8D89-C3C9C4AFDD1A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3E9F74-B1A4-44DA-858F-EA119F08C678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Demo 保存設定版本，不會依修改後的規則重新計算園所分數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BDE9A1-1CC5-499A-BBC4-57229F56BC8E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9D271C-7956-4745-ACBC-8D7FB1A5F97D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政策與資料改變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仍可維護判斷方式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531069-ECD4-4CFB-907B-16B611EA8276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以白話編輯條件，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設定影響程度與啟停狀態。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保留修改版本，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知道當時採用什麼規則。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62450" y="2474789"/>
            <a:ext cx="6991350" cy="263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55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1F1CC14-8B20-4D29-85CB-8478403E07F4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後續建置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32FEC4-A2A7-462A-A0C2-7DDBDD547B98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AI 輿情事件分析的建置方向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3A7A13-9461-426B-96F6-8EEC64196E9C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2E7384-A4F2-4A34-8F7A-E4C26BEB8CDA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爆炸圖列為 P1；目前 Demo 尚未提供完整輿情事件分析功能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C1C8BB-1A19-4C87-9F69-A971BAB76773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23CBC9-DC69-4F69-A961-B098AFF39872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039804-B39A-4B9A-BF72-0BE6A575B0E5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整理事件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D74446-E46D-46B4-8FD1-442E06AA1B48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辨識相關園所，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合併重複討論與報導。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CE8EB6-5203-4D53-89B8-BB5ADC56DA94}"/>
              </a:ext>
            </a:extLst>
          </p:cNvPr>
          <p:cNvSpPr>
            <a:spLocks noGrp="1"/>
          </p:cNvSpPr>
          <p:nvPr/>
        </p:nvSpPr>
        <p:spPr>
          <a:xfrm>
            <a:off x="43434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D3FC89-C4AC-4400-9C39-8D7AC0A3CD6D}"/>
              </a:ext>
            </a:extLst>
          </p:cNvPr>
          <p:cNvSpPr>
            <a:spLocks noGrp="1"/>
          </p:cNvSpPr>
          <p:nvPr/>
        </p:nvSpPr>
        <p:spPr>
          <a:xfrm>
            <a:off x="43434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標示可信度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41E21B-34DC-4E45-A639-196B9B1B6A8D}"/>
              </a:ext>
            </a:extLst>
          </p:cNvPr>
          <p:cNvSpPr>
            <a:spLocks noGrp="1"/>
          </p:cNvSpPr>
          <p:nvPr/>
        </p:nvSpPr>
        <p:spPr>
          <a:xfrm>
            <a:off x="43434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保留來源、日期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與未查證的標示。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9BA846-B6E5-4BBD-812F-DAD27DF959C1}"/>
              </a:ext>
            </a:extLst>
          </p:cNvPr>
          <p:cNvSpPr>
            <a:spLocks noGrp="1"/>
          </p:cNvSpPr>
          <p:nvPr/>
        </p:nvSpPr>
        <p:spPr>
          <a:xfrm>
            <a:off x="78486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0DF444-E1A2-4095-9439-4F5546947314}"/>
              </a:ext>
            </a:extLst>
          </p:cNvPr>
          <p:cNvSpPr>
            <a:spLocks noGrp="1"/>
          </p:cNvSpPr>
          <p:nvPr/>
        </p:nvSpPr>
        <p:spPr>
          <a:xfrm>
            <a:off x="78486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提供查核線索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9CF400-A981-482F-AB84-349DB2CD5D44}"/>
              </a:ext>
            </a:extLst>
          </p:cNvPr>
          <p:cNvSpPr>
            <a:spLocks noGrp="1"/>
          </p:cNvSpPr>
          <p:nvPr/>
        </p:nvSpPr>
        <p:spPr>
          <a:xfrm>
            <a:off x="78486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協助安排確認事項，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由人員回到正式事證查核。</a:t>
            </a:r>
          </a:p>
        </p:txBody>
      </p:sp>
    </p:spTree>
    <p:extLst>
      <p:ext uri="{BB962C8B-B14F-4D97-AF65-F5344CB8AC3E}">
        <p14:creationId xmlns:p14="http://schemas.microsoft.com/office/powerpoint/2010/main" val="1907209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7127B20-4582-42B7-84ED-FC06F7EF7B9A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操作流程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DCB68C-F4AF-4549-A58D-5C52D1AD8BB3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功能說明，降低第一次使用的門檻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69853C-7F4A-4195-84B0-1AA7173C7950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AB6F35-FF9A-4A8F-8EE7-6317824CC325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目前 Demo 已提供可操作的功能說明彈窗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E947F3-64E1-41BB-9DE0-05814B7E1AC0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3367FA-9296-44C3-A657-786914C05ACE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5755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需要說明時</a:t>
            </a:r>
          </a:p>
          <a:p>
            <a:pPr>
              <a:def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62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點一下「！」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AC55A9-B3BF-43C5-AB99-CC99FA59F596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257550" cy="1809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在功能旁提供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用途與操作步驟。</a:t>
            </a:r>
          </a:p>
          <a:p>
            <a:endParaRPr sz="1800" b="0">
              <a:solidFill>
                <a:srgbClr val="746F68"/>
              </a:solidFill>
              <a:latin typeface="Heiti TC"/>
              <a:ea typeface="Heiti TC"/>
              <a:cs typeface="Heiti TC"/>
            </a:endParaRP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看完關閉提示，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接著完成原本的工作。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64540" y="1704975"/>
            <a:ext cx="438717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65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D2F5D02-27DB-45E8-B9C2-AD15983BB47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範圍與規劃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0CACB9-28A5-474A-9FFB-1E674F81A533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目前能展示什麼，正式版還需要什麼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4CA2B7-279C-4A14-B3A5-AD92FF9C7727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0AE954-970A-484D-897C-021115A7042A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展示完成不等於正式服務已建置，試辦前仍需確認資料與治理規範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B13A29-9338-4ABC-8974-F1463FE1FBCB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838200" y="1885950"/>
          <a:ext cx="10515600" cy="37338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A3A3A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anchor="ctr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A3A3A"/>
                          </a:solidFill>
                          <a:latin typeface="Heiti TC"/>
                          <a:ea typeface="Heiti TC"/>
                          <a:cs typeface="Heiti TC"/>
                        </a:rPr>
                        <a:t>目前 Demo</a:t>
                      </a:r>
                    </a:p>
                  </a:txBody>
                  <a:tcPr anchor="ctr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A3A3A"/>
                          </a:solidFill>
                          <a:latin typeface="Heiti TC"/>
                          <a:ea typeface="Heiti TC"/>
                          <a:cs typeface="Heiti TC"/>
                        </a:rPr>
                        <a:t>正式建置需求</a:t>
                      </a:r>
                    </a:p>
                  </a:txBody>
                  <a:tcPr anchor="ctr">
                    <a:solidFill>
                      <a:srgbClr val="FB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風險與依據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模擬分數、來源與原因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串接資料、驗證評分規則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人工覆核與案件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可操作表單與待辦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帳號權限、共用資料庫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AI 資料整理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固定範例與欄位對應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解析檔案、OCR 與 AI 辨識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簽名與 PDF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示範簽名、文件預覽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簽名管理、實際 PDF 產生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輿情事件分析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構面與概念展示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46F68"/>
                          </a:solidFill>
                          <a:latin typeface="Heiti TC"/>
                          <a:ea typeface="Heiti TC"/>
                          <a:cs typeface="Heiti TC"/>
                        </a:rPr>
                        <a:t>事件分類、去重與查證流程</a:t>
                      </a:r>
                    </a:p>
                  </a:txBody>
                  <a:tcPr anchor="ctr"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511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0628465-145E-485D-8129-D92156F802C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建置提案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7F3B9A-393D-4CDC-AFBE-0A675787A5EF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建置順序，以完整查核流程為核心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9769AF-D595-49BA-924F-224B9DB0D9A9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C575EF-2150-4376-BE04-207E45A094F3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原圖 P0 為核心必做，P1 為延伸；本次 Demo 已先展示案件與 AI 匯入情境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656C8D-1670-42E9-9A31-BE69D13E6619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CCD18C-4EAA-4A54-AAAD-C9BEBC260315}"/>
              </a:ext>
            </a:extLst>
          </p:cNvPr>
          <p:cNvSpPr>
            <a:spLocks noGrp="1"/>
          </p:cNvSpPr>
          <p:nvPr/>
        </p:nvSpPr>
        <p:spPr>
          <a:xfrm>
            <a:off x="838200" y="2733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82241E-2D8B-4B3A-A25C-9CAE2E4B8C9A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47EBAB-9FF0-42DB-82CC-186F534DD553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3314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核心查核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2B8313-C229-426F-A981-D1EA28B29B36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33147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總覽、清單、詳情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評分依據與查核建議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AB51DF-D9BC-4E13-98F4-515C12BDB60D}"/>
              </a:ext>
            </a:extLst>
          </p:cNvPr>
          <p:cNvSpPr>
            <a:spLocks noGrp="1"/>
          </p:cNvSpPr>
          <p:nvPr/>
        </p:nvSpPr>
        <p:spPr>
          <a:xfrm>
            <a:off x="4343400" y="19621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EFD5D8-1786-4AEB-A6C2-5ACC7925C752}"/>
              </a:ext>
            </a:extLst>
          </p:cNvPr>
          <p:cNvSpPr>
            <a:spLocks noGrp="1"/>
          </p:cNvSpPr>
          <p:nvPr/>
        </p:nvSpPr>
        <p:spPr>
          <a:xfrm>
            <a:off x="4343400" y="3124200"/>
            <a:ext cx="3314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處理與交辦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111544-51E5-46A7-9DE3-C21134BB76D0}"/>
              </a:ext>
            </a:extLst>
          </p:cNvPr>
          <p:cNvSpPr>
            <a:spLocks noGrp="1"/>
          </p:cNvSpPr>
          <p:nvPr/>
        </p:nvSpPr>
        <p:spPr>
          <a:xfrm>
            <a:off x="4343400" y="3924300"/>
            <a:ext cx="33147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覆核、案件、行動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承辦簽名與 PDF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99CFF7-0D1C-419B-981D-63C37322A98C}"/>
              </a:ext>
            </a:extLst>
          </p:cNvPr>
          <p:cNvSpPr>
            <a:spLocks noGrp="1"/>
          </p:cNvSpPr>
          <p:nvPr/>
        </p:nvSpPr>
        <p:spPr>
          <a:xfrm>
            <a:off x="7848600" y="19621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750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2A1CF1-23D8-4C68-B0E9-8133E2C4DE91}"/>
              </a:ext>
            </a:extLst>
          </p:cNvPr>
          <p:cNvSpPr>
            <a:spLocks noGrp="1"/>
          </p:cNvSpPr>
          <p:nvPr/>
        </p:nvSpPr>
        <p:spPr>
          <a:xfrm>
            <a:off x="7848600" y="3124200"/>
            <a:ext cx="3314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資料深化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9BF7B6-3509-43EA-B355-056E4C21B044}"/>
              </a:ext>
            </a:extLst>
          </p:cNvPr>
          <p:cNvSpPr>
            <a:spLocks noGrp="1"/>
          </p:cNvSpPr>
          <p:nvPr/>
        </p:nvSpPr>
        <p:spPr>
          <a:xfrm>
            <a:off x="7848600" y="3924300"/>
            <a:ext cx="33147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正式資料匯入</a:t>
            </a:r>
          </a:p>
          <a:p>
            <a:pPr>
              <a:defRPr sz="16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異常偵測與輿情分析</a:t>
            </a:r>
          </a:p>
        </p:txBody>
      </p:sp>
    </p:spTree>
    <p:extLst>
      <p:ext uri="{BB962C8B-B14F-4D97-AF65-F5344CB8AC3E}">
        <p14:creationId xmlns:p14="http://schemas.microsoft.com/office/powerpoint/2010/main" val="816115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7779EE0-C58C-46D0-A2B0-AF49B499708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試辦建議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1BEEF-7554-4286-8A78-23B2997C1DE3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試辦先驗證承辦人能否完成工作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0D1ABC-4DA2-410C-AA82-34233E01F26C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E59664-26A7-4689-82AE-33BA736484F0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以上為建議驗證項目，尚未進行成效量測或作出效率提升承諾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BA522B-EF6F-4F99-96AB-890873305100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07DB89-2B4A-40C9-B69D-55E6631F0AE4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59C75-5A6D-48B2-AD19-FAEDB52CD410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找得到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A2F370-79A4-4B4F-B30D-3934EDFAC216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能否找到需優先關注的園所？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記錄查找與整理所需時間。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7D5221-D5C9-4140-8548-F23FE708DFF7}"/>
              </a:ext>
            </a:extLst>
          </p:cNvPr>
          <p:cNvSpPr>
            <a:spLocks noGrp="1"/>
          </p:cNvSpPr>
          <p:nvPr/>
        </p:nvSpPr>
        <p:spPr>
          <a:xfrm>
            <a:off x="43434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DCB71A-9EB8-4A45-9C7C-4D66E1348996}"/>
              </a:ext>
            </a:extLst>
          </p:cNvPr>
          <p:cNvSpPr>
            <a:spLocks noGrp="1"/>
          </p:cNvSpPr>
          <p:nvPr/>
        </p:nvSpPr>
        <p:spPr>
          <a:xfrm>
            <a:off x="43434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看得懂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CBAE83-C378-4250-B053-1D955A572E23}"/>
              </a:ext>
            </a:extLst>
          </p:cNvPr>
          <p:cNvSpPr>
            <a:spLocks noGrp="1"/>
          </p:cNvSpPr>
          <p:nvPr/>
        </p:nvSpPr>
        <p:spPr>
          <a:xfrm>
            <a:off x="43434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能否說出風險原因與來源？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記錄覆核時遇到的疑問。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E85BE1-73A1-4B04-9487-CD0342BEA0A5}"/>
              </a:ext>
            </a:extLst>
          </p:cNvPr>
          <p:cNvSpPr>
            <a:spLocks noGrp="1"/>
          </p:cNvSpPr>
          <p:nvPr/>
        </p:nvSpPr>
        <p:spPr>
          <a:xfrm>
            <a:off x="7848600" y="2143125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A68A6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88E102-FAE2-46B8-8679-ECD262B12AAF}"/>
              </a:ext>
            </a:extLst>
          </p:cNvPr>
          <p:cNvSpPr>
            <a:spLocks noGrp="1"/>
          </p:cNvSpPr>
          <p:nvPr/>
        </p:nvSpPr>
        <p:spPr>
          <a:xfrm>
            <a:off x="7848600" y="2952750"/>
            <a:ext cx="31718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接得下去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63D0EA-8731-4108-9F40-4C3965BA8845}"/>
              </a:ext>
            </a:extLst>
          </p:cNvPr>
          <p:cNvSpPr>
            <a:spLocks noGrp="1"/>
          </p:cNvSpPr>
          <p:nvPr/>
        </p:nvSpPr>
        <p:spPr>
          <a:xfrm>
            <a:off x="7848600" y="3752850"/>
            <a:ext cx="3171825" cy="1476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能否完成後續行動與交辦？</a:t>
            </a:r>
          </a:p>
          <a:p>
            <a:pPr>
              <a:defRPr sz="180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追蹤未完成事項與回覆情形。</a:t>
            </a:r>
          </a:p>
        </p:txBody>
      </p:sp>
    </p:spTree>
    <p:extLst>
      <p:ext uri="{BB962C8B-B14F-4D97-AF65-F5344CB8AC3E}">
        <p14:creationId xmlns:p14="http://schemas.microsoft.com/office/powerpoint/2010/main" val="1048702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1C1A816-4EDE-4F5D-8C8E-FA0773A929D0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提案重點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33A280-AF14-436A-9A53-E9D08C8D418B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讓每次查核，都有清楚的依據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84D0C8-0CD8-4A02-80D7-54D92049BC18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718BED-1464-4D59-89AC-7CAFC9AA61D4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AI 輔助整理與建議，行政判斷由權責機關依正式事證作成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507CF3-576A-4684-8850-BA5CFCC34BA5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F47465-D0AC-4738-962A-C58B7E2F1705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10515600" cy="2266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先找到需要關注的園所，</a:t>
            </a:r>
          </a:p>
          <a:p>
            <a:pPr>
              <a:def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再把原因交代清楚，</a:t>
            </a:r>
          </a:p>
          <a:p>
            <a:pPr>
              <a:def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675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最後讓調查有下一步。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01D262-306F-4E10-B2B4-4A640FAB5F38}"/>
              </a:ext>
            </a:extLst>
          </p:cNvPr>
          <p:cNvSpPr>
            <a:spLocks noGrp="1"/>
          </p:cNvSpPr>
          <p:nvPr/>
        </p:nvSpPr>
        <p:spPr>
          <a:xfrm>
            <a:off x="838200" y="52387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17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幼安雷達</a:t>
            </a:r>
          </a:p>
        </p:txBody>
      </p:sp>
    </p:spTree>
    <p:extLst>
      <p:ext uri="{BB962C8B-B14F-4D97-AF65-F5344CB8AC3E}">
        <p14:creationId xmlns:p14="http://schemas.microsoft.com/office/powerpoint/2010/main" val="671987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CA5131B-E45E-4594-8E40-2E5AD447FF1D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125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附錄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903F5-BEF3-40F8-AB2E-AD842BA2DD73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105156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defRPr>
            </a:pPr>
            <a:r>
              <a:rPr sz="3300" b="0">
                <a:solidFill>
                  <a:srgbClr val="3A3A3A"/>
                </a:solidFill>
                <a:latin typeface="Songti SC"/>
                <a:ea typeface="Songti SC"/>
                <a:cs typeface="Songti SC"/>
              </a:rPr>
              <a:t>原始 MVP 功能爆炸圖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51B7B7-C42D-489E-BE20-5B43F16697C5}"/>
              </a:ext>
            </a:extLst>
          </p:cNvPr>
          <p:cNvSpPr>
            <a:spLocks noGrp="1"/>
          </p:cNvSpPr>
          <p:nvPr/>
        </p:nvSpPr>
        <p:spPr>
          <a:xfrm>
            <a:off x="838200" y="6162675"/>
            <a:ext cx="10515600" cy="9525"/>
          </a:xfrm>
          <a:prstGeom prst="rect">
            <a:avLst/>
          </a:prstGeom>
          <a:solidFill>
            <a:srgbClr val="D8CCBD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EA7360-526D-4ED2-953C-CFFCFC25071D}"/>
              </a:ext>
            </a:extLst>
          </p:cNvPr>
          <p:cNvSpPr>
            <a:spLocks noGrp="1"/>
          </p:cNvSpPr>
          <p:nvPr/>
        </p:nvSpPr>
        <p:spPr>
          <a:xfrm>
            <a:off x="838200" y="6334125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050" b="0">
                <a:solidFill>
                  <a:srgbClr val="746F68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746F68"/>
                </a:solidFill>
                <a:latin typeface="Heiti TC"/>
                <a:ea typeface="Heiti TC"/>
                <a:cs typeface="Heiti TC"/>
              </a:rPr>
              <a:t>來源：教保風險平台_MVP功能爆炸圖.png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AAA0A2-E59A-45C1-8230-3D9A95422FA3}"/>
              </a:ext>
            </a:extLst>
          </p:cNvPr>
          <p:cNvSpPr>
            <a:spLocks noGrp="1"/>
          </p:cNvSpPr>
          <p:nvPr/>
        </p:nvSpPr>
        <p:spPr>
          <a:xfrm>
            <a:off x="10915650" y="6296025"/>
            <a:ext cx="4381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A68A64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68A64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1333" y="1619250"/>
            <a:ext cx="7789333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277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2413</Words>
  <Application>Microsoft Office PowerPoint</Application>
  <DocSecurity>0</DocSecurity>
  <PresentationFormat>寬螢幕</PresentationFormat>
  <Paragraphs>549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Heiti TC</vt:lpstr>
      <vt:lpstr>Songti SC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Mobin Ice</cp:lastModifiedBy>
  <cp:revision>3</cp:revision>
  <dcterms:created xsi:type="dcterms:W3CDTF">2026-09-12T01:05:12Z</dcterms:created>
  <dcterms:modified xsi:type="dcterms:W3CDTF">2026-09-12T02:28:42Z</dcterms:modified>
</cp:coreProperties>
</file>